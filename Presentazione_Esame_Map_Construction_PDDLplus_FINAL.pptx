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269FF"/>
          </a:solidFill>
          <a:ln>
            <a:solidFill>
              <a:srgbClr val="5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804672"/>
            <a:ext cx="65836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700" b="1">
                <a:solidFill>
                  <a:srgbClr val="F6F8FF"/>
                </a:solidFill>
                <a:latin typeface="Aptos"/>
              </a:defRPr>
            </a:pPr>
            <a:r>
              <a:t>MAP 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658368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700" b="1">
                <a:solidFill>
                  <a:srgbClr val="36CAFF"/>
                </a:solidFill>
                <a:latin typeface="Aptos"/>
              </a:defRPr>
            </a:pPr>
            <a:r>
              <a:t>IN PDDL+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331720"/>
            <a:ext cx="6309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A6B2CF"/>
                </a:solidFill>
                <a:latin typeface="Aptos"/>
              </a:defRPr>
            </a:pPr>
            <a:r>
              <a:t>Da OpenStreetMap a un piano temporale e alla simulazione SUMO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3246120"/>
            <a:ext cx="5303520" cy="45720"/>
          </a:xfrm>
          <a:prstGeom prst="rect">
            <a:avLst/>
          </a:prstGeom>
          <a:solidFill>
            <a:srgbClr val="5269FF"/>
          </a:solidFill>
          <a:ln>
            <a:solidFill>
              <a:srgbClr val="5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3547872"/>
            <a:ext cx="6492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6F8FF"/>
                </a:solidFill>
                <a:latin typeface="Aptos"/>
              </a:defRPr>
            </a:pPr>
            <a:r>
              <a:t>Chiara · Elisa · Emanuele · Pierluigi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005072"/>
            <a:ext cx="4389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A6B2CF"/>
                </a:solidFill>
                <a:latin typeface="Aptos"/>
              </a:defRPr>
            </a:pPr>
            <a:r>
              <a:t>Automated Planning · UNICAL</a:t>
            </a:r>
          </a:p>
        </p:txBody>
      </p:sp>
      <p:pic>
        <p:nvPicPr>
          <p:cNvPr id="9" name="Picture 8" descr="02_percorso_trova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658368"/>
            <a:ext cx="4160520" cy="53766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3232" y="6345936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5269FF"/>
                </a:solidFill>
                <a:latin typeface="Aptos"/>
              </a:defRPr>
            </a:pPr>
            <a:r>
              <a:t>Relatore: Chiara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269FF"/>
          </a:solidFill>
          <a:ln>
            <a:solidFill>
              <a:srgbClr val="5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02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5269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92024"/>
            <a:ext cx="105613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6F8FF"/>
                </a:solidFill>
                <a:latin typeface="Aptos"/>
              </a:defRPr>
            </a:pPr>
            <a:r>
              <a:t>Obiettivo e confini del progetto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36792"/>
            <a:ext cx="11155680" cy="18288"/>
          </a:xfrm>
          <a:prstGeom prst="rect">
            <a:avLst/>
          </a:prstGeom>
          <a:solidFill>
            <a:srgbClr val="3C4665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400800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5269FF"/>
                </a:solidFill>
                <a:latin typeface="Aptos"/>
              </a:defRPr>
            </a:pPr>
            <a:r>
              <a:t>Relatore: Chiara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400800"/>
            <a:ext cx="4114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6B2CF"/>
                </a:solidFill>
                <a:latin typeface="Aptos"/>
              </a:defRPr>
            </a:pPr>
            <a:r>
              <a:t>Map Construction in PDDL+ | Presentazione d'esame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170432"/>
            <a:ext cx="1188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36CAFF"/>
                </a:solidFill>
                <a:latin typeface="Aptos"/>
              </a:defRPr>
            </a:pPr>
            <a:r>
              <a:t>Domanda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536192"/>
            <a:ext cx="106984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6F8FF"/>
                </a:solidFill>
                <a:latin typeface="Aptos"/>
              </a:defRPr>
            </a:pPr>
            <a:r>
              <a:t>Come trasformare una rete stradale reale in un problema di planning numerico e temporale?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3337560" cy="1965960"/>
          </a:xfrm>
          <a:prstGeom prst="roundRect">
            <a:avLst/>
          </a:prstGeom>
          <a:solidFill>
            <a:srgbClr val="192037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85800" y="2514600"/>
            <a:ext cx="64008" cy="1965960"/>
          </a:xfrm>
          <a:prstGeom prst="roundRect">
            <a:avLst/>
          </a:prstGeom>
          <a:solidFill>
            <a:srgbClr val="36CAFF"/>
          </a:solidFill>
          <a:ln>
            <a:solidFill>
              <a:srgbClr val="36C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" y="2679192"/>
            <a:ext cx="2971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36CAFF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072384"/>
            <a:ext cx="2971800" cy="1271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6F8FF"/>
                </a:solidFill>
                <a:latin typeface="Aptos"/>
              </a:defRPr>
            </a:pPr>
            <a:r>
              <a:t>File .osm con coordinate, strade, sensi unici, limiti di velocità e semafori.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6552" y="2514600"/>
            <a:ext cx="3337560" cy="1965960"/>
          </a:xfrm>
          <a:prstGeom prst="roundRect">
            <a:avLst/>
          </a:prstGeom>
          <a:solidFill>
            <a:srgbClr val="192037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416552" y="2514600"/>
            <a:ext cx="64008" cy="1965960"/>
          </a:xfrm>
          <a:prstGeom prst="roundRect">
            <a:avLst/>
          </a:prstGeom>
          <a:solidFill>
            <a:srgbClr val="5269FF"/>
          </a:solidFill>
          <a:ln>
            <a:solidFill>
              <a:srgbClr val="5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17720" y="2679192"/>
            <a:ext cx="2971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5269FF"/>
                </a:solidFill>
                <a:latin typeface="Aptos"/>
              </a:defRPr>
            </a:pPr>
            <a:r>
              <a:t>MODELLO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072384"/>
            <a:ext cx="2971800" cy="1271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6F8FF"/>
                </a:solidFill>
                <a:latin typeface="Aptos"/>
              </a:defRPr>
            </a:pPr>
            <a:r>
              <a:t>Problema PDDL+ e dominio con azioni, processi continui ed eventi automatici.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47304" y="2514600"/>
            <a:ext cx="3337560" cy="1965960"/>
          </a:xfrm>
          <a:prstGeom prst="roundRect">
            <a:avLst/>
          </a:prstGeom>
          <a:solidFill>
            <a:srgbClr val="192037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147304" y="2514600"/>
            <a:ext cx="64008" cy="1965960"/>
          </a:xfrm>
          <a:prstGeom prst="roundRect">
            <a:avLst/>
          </a:prstGeom>
          <a:solidFill>
            <a:srgbClr val="2BCF82"/>
          </a:solidFill>
          <a:ln>
            <a:solidFill>
              <a:srgbClr val="2BC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48472" y="2679192"/>
            <a:ext cx="2971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BCF82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2" y="3072384"/>
            <a:ext cx="2971800" cy="1271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6F8FF"/>
                </a:solidFill>
                <a:latin typeface="Aptos"/>
              </a:defRPr>
            </a:pPr>
            <a:r>
              <a:t>Piano trovato da ENHSP, visualizzazione web e simulazione sulla rete SUMO.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70432" y="4983480"/>
            <a:ext cx="9857232" cy="658368"/>
          </a:xfrm>
          <a:prstGeom prst="roundRect">
            <a:avLst/>
          </a:prstGeom>
          <a:solidFill>
            <a:srgbClr val="222B48"/>
          </a:solidFill>
          <a:ln>
            <a:solidFill>
              <a:srgbClr val="5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417320" y="5166360"/>
            <a:ext cx="9372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6F8FF"/>
                </a:solidFill>
                <a:latin typeface="Aptos"/>
              </a:defRPr>
            </a:pPr>
            <a:r>
              <a:t>Il progetto non è un navigatore completo: usa semplificazioni dichiarate e verificabili.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269FF"/>
          </a:solidFill>
          <a:ln>
            <a:solidFill>
              <a:srgbClr val="5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02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5269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92024"/>
            <a:ext cx="105613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6F8FF"/>
                </a:solidFill>
                <a:latin typeface="Aptos"/>
              </a:defRPr>
            </a:pPr>
            <a:r>
              <a:t>Architettura: chi decide e chi visualizza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36792"/>
            <a:ext cx="11155680" cy="18288"/>
          </a:xfrm>
          <a:prstGeom prst="rect">
            <a:avLst/>
          </a:prstGeom>
          <a:solidFill>
            <a:srgbClr val="3C4665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400800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5269FF"/>
                </a:solidFill>
                <a:latin typeface="Aptos"/>
              </a:defRPr>
            </a:pPr>
            <a:r>
              <a:t>Relatore: Chiara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400800"/>
            <a:ext cx="4114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6B2CF"/>
                </a:solidFill>
                <a:latin typeface="Aptos"/>
              </a:defRPr>
            </a:pPr>
            <a:r>
              <a:t>Map Construction in PDDL+ | Presentazione d'esame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72768"/>
            <a:ext cx="1901952" cy="2176272"/>
          </a:xfrm>
          <a:prstGeom prst="roundRect">
            <a:avLst/>
          </a:prstGeom>
          <a:solidFill>
            <a:srgbClr val="192037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70432" y="1298448"/>
            <a:ext cx="56692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0C112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70432" y="1298448"/>
            <a:ext cx="566928" cy="566928"/>
          </a:xfrm>
          <a:prstGeom prst="roundRect">
            <a:avLst/>
          </a:prstGeom>
          <a:solidFill>
            <a:srgbClr val="36CAFF"/>
          </a:solidFill>
          <a:ln>
            <a:solidFill>
              <a:srgbClr val="36C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1380744"/>
            <a:ext cx="566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0C1120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157984"/>
            <a:ext cx="162763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36CAFF"/>
                </a:solidFill>
                <a:latin typeface="Aptos"/>
              </a:defRPr>
            </a:pPr>
            <a:r>
              <a:t>OSM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770632"/>
            <a:ext cx="159105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F6F8FF"/>
                </a:solidFill>
                <a:latin typeface="Aptos"/>
              </a:defRPr>
            </a:pPr>
            <a:r>
              <a:t>fornisce i dati reali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04872" y="2468880"/>
            <a:ext cx="4206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A6B2C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34639" y="1572768"/>
            <a:ext cx="1901952" cy="2176272"/>
          </a:xfrm>
          <a:prstGeom prst="roundRect">
            <a:avLst/>
          </a:prstGeom>
          <a:solidFill>
            <a:srgbClr val="192037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02151" y="1298448"/>
            <a:ext cx="56692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0C112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02151" y="1298448"/>
            <a:ext cx="566928" cy="566928"/>
          </a:xfrm>
          <a:prstGeom prst="roundRect">
            <a:avLst/>
          </a:prstGeom>
          <a:solidFill>
            <a:srgbClr val="5269FF"/>
          </a:solidFill>
          <a:ln>
            <a:solidFill>
              <a:srgbClr val="5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02151" y="1380744"/>
            <a:ext cx="566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0C112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799" y="2157984"/>
            <a:ext cx="162763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5269FF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0087" y="2770632"/>
            <a:ext cx="159105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F6F8FF"/>
                </a:solidFill>
                <a:latin typeface="Aptos"/>
              </a:defRPr>
            </a:pPr>
            <a:r>
              <a:t>costruisce e riduce il grafo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6592" y="2468880"/>
            <a:ext cx="4206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A6B2C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66359" y="1572768"/>
            <a:ext cx="1901952" cy="2176272"/>
          </a:xfrm>
          <a:prstGeom prst="roundRect">
            <a:avLst/>
          </a:prstGeom>
          <a:solidFill>
            <a:srgbClr val="192037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833871" y="1298448"/>
            <a:ext cx="56692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0C112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33871" y="1298448"/>
            <a:ext cx="566928" cy="566928"/>
          </a:xfrm>
          <a:prstGeom prst="roundRect">
            <a:avLst/>
          </a:prstGeom>
          <a:solidFill>
            <a:srgbClr val="FFB52C"/>
          </a:solidFill>
          <a:ln>
            <a:solidFill>
              <a:srgbClr val="FFB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833871" y="1380744"/>
            <a:ext cx="566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0C112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2157984"/>
            <a:ext cx="162763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FB52C"/>
                </a:solidFill>
                <a:latin typeface="Aptos"/>
              </a:defRPr>
            </a:pPr>
            <a:r>
              <a:t>PDDL+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21807" y="2770632"/>
            <a:ext cx="159105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F6F8FF"/>
                </a:solidFill>
                <a:latin typeface="Aptos"/>
              </a:defRPr>
            </a:pPr>
            <a:r>
              <a:t>descrive stato e dinamica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68312" y="2468880"/>
            <a:ext cx="4206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A6B2C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79" y="1572768"/>
            <a:ext cx="1901952" cy="2176272"/>
          </a:xfrm>
          <a:prstGeom prst="roundRect">
            <a:avLst/>
          </a:prstGeom>
          <a:solidFill>
            <a:srgbClr val="192037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65592" y="1298448"/>
            <a:ext cx="56692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0C112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65592" y="1298448"/>
            <a:ext cx="566928" cy="566928"/>
          </a:xfrm>
          <a:prstGeom prst="roundRect">
            <a:avLst/>
          </a:prstGeom>
          <a:solidFill>
            <a:srgbClr val="2BCF82"/>
          </a:solidFill>
          <a:ln>
            <a:solidFill>
              <a:srgbClr val="2BC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165592" y="1380744"/>
            <a:ext cx="566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0C112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2157984"/>
            <a:ext cx="162763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BCF82"/>
                </a:solidFill>
                <a:latin typeface="Aptos"/>
              </a:defRPr>
            </a:pPr>
            <a:r>
              <a:t>ENHSP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53527" y="2770632"/>
            <a:ext cx="159105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F6F8FF"/>
                </a:solidFill>
                <a:latin typeface="Aptos"/>
              </a:defRPr>
            </a:pPr>
            <a:r>
              <a:t>trova un piano valido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00032" y="2468880"/>
            <a:ext cx="4206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A6B2C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29800" y="1572768"/>
            <a:ext cx="1901952" cy="2176272"/>
          </a:xfrm>
          <a:prstGeom prst="roundRect">
            <a:avLst/>
          </a:prstGeom>
          <a:solidFill>
            <a:srgbClr val="192037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497312" y="1298448"/>
            <a:ext cx="56692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0C112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497312" y="1298448"/>
            <a:ext cx="566928" cy="566928"/>
          </a:xfrm>
          <a:prstGeom prst="roundRect">
            <a:avLst/>
          </a:prstGeom>
          <a:solidFill>
            <a:srgbClr val="FF5363"/>
          </a:solidFill>
          <a:ln>
            <a:solidFill>
              <a:srgbClr val="FF5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497312" y="1380744"/>
            <a:ext cx="56692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0C112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66960" y="2157984"/>
            <a:ext cx="162763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F5363"/>
                </a:solidFill>
                <a:latin typeface="Aptos"/>
              </a:defRPr>
            </a:pPr>
            <a:r>
              <a:t>SUMO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85248" y="2770632"/>
            <a:ext cx="159105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F6F8FF"/>
                </a:solidFill>
                <a:latin typeface="Aptos"/>
              </a:defRPr>
            </a:pPr>
            <a:r>
              <a:t>simula una rotta sulla sua rete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" y="4370832"/>
            <a:ext cx="20116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BCF82"/>
                </a:solidFill>
                <a:latin typeface="Aptos"/>
              </a:defRPr>
            </a:pPr>
            <a:r>
              <a:t>Separazione corretta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" y="4709160"/>
            <a:ext cx="51663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F6F8FF"/>
                </a:solidFill>
                <a:latin typeface="Aptos"/>
              </a:defRPr>
            </a:pPr>
            <a:r>
              <a:t>•  ENHSP opera sul grafo PDDL.</a:t>
            </a:r>
          </a:p>
          <a:p>
            <a:pPr>
              <a:spcAft>
                <a:spcPts val="900"/>
              </a:spcAft>
              <a:defRPr sz="1600">
                <a:solidFill>
                  <a:srgbClr val="F6F8FF"/>
                </a:solidFill>
                <a:latin typeface="Aptos"/>
              </a:defRPr>
            </a:pPr>
            <a:r>
              <a:t>•  SUMO opera sul proprio net.xml.</a:t>
            </a:r>
          </a:p>
          <a:p>
            <a:pPr>
              <a:spcAft>
                <a:spcPts val="900"/>
              </a:spcAft>
              <a:defRPr sz="1600">
                <a:solidFill>
                  <a:srgbClr val="F6F8FF"/>
                </a:solidFill>
                <a:latin typeface="Aptos"/>
              </a:defRPr>
            </a:pPr>
            <a:r>
              <a:t>•  Python effettua il collegamento tra formati.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91072" y="4370832"/>
            <a:ext cx="2468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5363"/>
                </a:solidFill>
                <a:latin typeface="Aptos"/>
              </a:defRPr>
            </a:pPr>
            <a:r>
              <a:t>Punto da non confondere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91072" y="4709160"/>
            <a:ext cx="5074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F6F8FF"/>
                </a:solidFill>
                <a:latin typeface="Aptos"/>
              </a:defRPr>
            </a:pPr>
            <a:r>
              <a:t>•  La simulazione SUMO non dimostra da sola l'ottimalità del piano.</a:t>
            </a:r>
          </a:p>
          <a:p>
            <a:pPr>
              <a:spcAft>
                <a:spcPts val="900"/>
              </a:spcAft>
              <a:defRPr sz="1600">
                <a:solidFill>
                  <a:srgbClr val="F6F8FF"/>
                </a:solidFill>
                <a:latin typeface="Aptos"/>
              </a:defRPr>
            </a:pPr>
            <a:r>
              <a:t>•  Nella modalità dinamica Dijkstra ricalcola la rotta tra gli stessi estremi.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269FF"/>
          </a:solidFill>
          <a:ln>
            <a:solidFill>
              <a:srgbClr val="5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02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5269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92024"/>
            <a:ext cx="105613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6F8FF"/>
                </a:solidFill>
                <a:latin typeface="Aptos"/>
              </a:defRPr>
            </a:pPr>
            <a:r>
              <a:t>Cosa contiene realmente un file OSM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36792"/>
            <a:ext cx="11155680" cy="18288"/>
          </a:xfrm>
          <a:prstGeom prst="rect">
            <a:avLst/>
          </a:prstGeom>
          <a:solidFill>
            <a:srgbClr val="3C4665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400800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5269FF"/>
                </a:solidFill>
                <a:latin typeface="Aptos"/>
              </a:defRPr>
            </a:pPr>
            <a:r>
              <a:t>Relatore: Chiara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400800"/>
            <a:ext cx="4114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6B2CF"/>
                </a:solidFill>
                <a:latin typeface="Aptos"/>
              </a:defRPr>
            </a:pPr>
            <a:r>
              <a:t>Map Construction in PDDL+ | Presentazione d'esame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34440"/>
            <a:ext cx="3383280" cy="2057400"/>
          </a:xfrm>
          <a:prstGeom prst="roundRect">
            <a:avLst/>
          </a:prstGeom>
          <a:solidFill>
            <a:srgbClr val="192037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85800" y="1234440"/>
            <a:ext cx="64008" cy="2057400"/>
          </a:xfrm>
          <a:prstGeom prst="roundRect">
            <a:avLst/>
          </a:prstGeom>
          <a:solidFill>
            <a:srgbClr val="36CAFF"/>
          </a:solidFill>
          <a:ln>
            <a:solidFill>
              <a:srgbClr val="36C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399032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36CAFF"/>
                </a:solidFill>
                <a:latin typeface="Aptos"/>
              </a:defRPr>
            </a:pPr>
            <a:r>
              <a:t>NODE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792224"/>
            <a:ext cx="3017520" cy="1362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6F8FF"/>
                </a:solidFill>
                <a:latin typeface="Aptos"/>
              </a:defRPr>
            </a:pPr>
            <a:r>
              <a:t>Punto geografico con id, latitudine e longitudine. Può avere tag, per esempio highway=traffic_signals.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234440"/>
            <a:ext cx="3383280" cy="2057400"/>
          </a:xfrm>
          <a:prstGeom prst="roundRect">
            <a:avLst/>
          </a:prstGeom>
          <a:solidFill>
            <a:srgbClr val="192037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407408" y="1234440"/>
            <a:ext cx="64008" cy="2057400"/>
          </a:xfrm>
          <a:prstGeom prst="roundRect">
            <a:avLst/>
          </a:prstGeom>
          <a:solidFill>
            <a:srgbClr val="5269FF"/>
          </a:solidFill>
          <a:ln>
            <a:solidFill>
              <a:srgbClr val="5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08576" y="1399032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5269FF"/>
                </a:solidFill>
                <a:latin typeface="Aptos"/>
              </a:defRPr>
            </a:pPr>
            <a:r>
              <a:t>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1792224"/>
            <a:ext cx="3017520" cy="1362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6F8FF"/>
                </a:solidFill>
                <a:latin typeface="Aptos"/>
              </a:defRPr>
            </a:pPr>
            <a:r>
              <a:t>Sequenza ordinata di riferimenti a node. Rappresenta una strada o una sua porzione.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9016" y="1234440"/>
            <a:ext cx="3383280" cy="2057400"/>
          </a:xfrm>
          <a:prstGeom prst="roundRect">
            <a:avLst/>
          </a:prstGeom>
          <a:solidFill>
            <a:srgbClr val="192037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129016" y="1234440"/>
            <a:ext cx="64008" cy="2057400"/>
          </a:xfrm>
          <a:prstGeom prst="roundRect">
            <a:avLst/>
          </a:prstGeom>
          <a:solidFill>
            <a:srgbClr val="FFB52C"/>
          </a:solidFill>
          <a:ln>
            <a:solidFill>
              <a:srgbClr val="FFB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30184" y="1399032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B52C"/>
                </a:solidFill>
                <a:latin typeface="Aptos"/>
              </a:defRPr>
            </a:pPr>
            <a:r>
              <a:t>TAG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4" y="1792224"/>
            <a:ext cx="3017520" cy="1362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6F8FF"/>
                </a:solidFill>
                <a:latin typeface="Aptos"/>
              </a:defRPr>
            </a:pPr>
            <a:r>
              <a:t>Coppie chiave-valore: highway, name, maxspeed, oneway e altre proprietà OSM.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685032"/>
            <a:ext cx="10826496" cy="1691640"/>
          </a:xfrm>
          <a:prstGeom prst="roundRect">
            <a:avLst/>
          </a:prstGeom>
          <a:solidFill>
            <a:srgbClr val="070B16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3931920"/>
            <a:ext cx="102870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BCF82"/>
                </a:solidFill>
                <a:latin typeface="Cascadia Mono"/>
              </a:defRPr>
            </a:pPr>
            <a:r>
              <a:t>&lt;way id="3789368"&gt;</a:t>
            </a:r>
            <a:br/>
            <a:r>
              <a:t>  &lt;nd ref="2369340286"/&gt; ... 8 nodi ...</a:t>
            </a:r>
            <a:br/>
            <a:r>
              <a:t>  &lt;tag k="name" v="Greek Street"/&gt;</a:t>
            </a:r>
            <a:br/>
            <a:r>
              <a:t>  &lt;tag k="maxspeed" v="30"/&gt;  &lt;tag k="oneway" v="yes"/&gt;</a:t>
            </a:r>
            <a:br/>
            <a:r>
              <a:t>&lt;/way&gt;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623560"/>
            <a:ext cx="10149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6F8FF"/>
                </a:solidFill>
                <a:latin typeface="Aptos"/>
              </a:defRPr>
            </a:pPr>
            <a:r>
              <a:t>Una way non equivale a un arco PDDL: prima viene segmentata e contratta.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269FF"/>
          </a:solidFill>
          <a:ln>
            <a:solidFill>
              <a:srgbClr val="5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02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5269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92024"/>
            <a:ext cx="105613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6F8FF"/>
                </a:solidFill>
                <a:latin typeface="Aptos"/>
              </a:defRPr>
            </a:pPr>
            <a:r>
              <a:t>Quattro conteggi diversi: perché si vedono più nodi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36792"/>
            <a:ext cx="11155680" cy="18288"/>
          </a:xfrm>
          <a:prstGeom prst="rect">
            <a:avLst/>
          </a:prstGeom>
          <a:solidFill>
            <a:srgbClr val="3C4665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400800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5269FF"/>
                </a:solidFill>
                <a:latin typeface="Aptos"/>
              </a:defRPr>
            </a:pPr>
            <a:r>
              <a:t>Relatore: Chiara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400800"/>
            <a:ext cx="4114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6B2CF"/>
                </a:solidFill>
                <a:latin typeface="Aptos"/>
              </a:defRPr>
            </a:pPr>
            <a:r>
              <a:t>Map Construction in PDDL+ | Presentazione d'esame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188720"/>
            <a:ext cx="10771632" cy="841248"/>
          </a:xfrm>
          <a:prstGeom prst="roundRect">
            <a:avLst/>
          </a:prstGeom>
          <a:solidFill>
            <a:srgbClr val="192037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389888"/>
            <a:ext cx="2011680" cy="2834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36CAFF"/>
                </a:solidFill>
                <a:latin typeface="Aptos"/>
              </a:defRPr>
            </a:pPr>
            <a:r>
              <a:t>OSM grezzo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1362456"/>
            <a:ext cx="2240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6F8FF"/>
                </a:solidFill>
                <a:latin typeface="Aptos"/>
              </a:defRPr>
            </a:pPr>
            <a:r>
              <a:t>555 node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96128" y="1389888"/>
            <a:ext cx="5532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A6B2CF"/>
                </a:solidFill>
                <a:latin typeface="Aptos"/>
              </a:defRPr>
            </a:pPr>
            <a:r>
              <a:t>Tutti i punti geometrici della zona piccola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304288"/>
            <a:ext cx="10771632" cy="841248"/>
          </a:xfrm>
          <a:prstGeom prst="roundRect">
            <a:avLst/>
          </a:prstGeom>
          <a:solidFill>
            <a:srgbClr val="192037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505456"/>
            <a:ext cx="2011680" cy="2834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5269FF"/>
                </a:solidFill>
                <a:latin typeface="Aptos"/>
              </a:defRPr>
            </a:pPr>
            <a:r>
              <a:t>Grafo contratto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2478024"/>
            <a:ext cx="2240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6F8FF"/>
                </a:solidFill>
                <a:latin typeface="Aptos"/>
              </a:defRPr>
            </a:pPr>
            <a:r>
              <a:t>201 nodi con uscite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96128" y="2505456"/>
            <a:ext cx="5532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A6B2CF"/>
                </a:solidFill>
                <a:latin typeface="Aptos"/>
              </a:defRPr>
            </a:pPr>
            <a:r>
              <a:t>Incroci/estremità dopo la contrazione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419856"/>
            <a:ext cx="10771632" cy="841248"/>
          </a:xfrm>
          <a:prstGeom prst="roundRect">
            <a:avLst/>
          </a:prstGeom>
          <a:solidFill>
            <a:srgbClr val="192037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3621024"/>
            <a:ext cx="2011680" cy="2834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B52C"/>
                </a:solidFill>
                <a:latin typeface="Aptos"/>
              </a:defRPr>
            </a:pPr>
            <a:r>
              <a:t>Istanza piccola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3593592"/>
            <a:ext cx="2240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6F8FF"/>
                </a:solidFill>
                <a:latin typeface="Aptos"/>
              </a:defRPr>
            </a:pPr>
            <a:r>
              <a:t>14 oggetti PDDL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96128" y="3621024"/>
            <a:ext cx="5532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A6B2CF"/>
                </a:solidFill>
                <a:latin typeface="Aptos"/>
              </a:defRPr>
            </a:pPr>
            <a:r>
              <a:t>Caso base curato manualmente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535424"/>
            <a:ext cx="10771632" cy="841248"/>
          </a:xfrm>
          <a:prstGeom prst="roundRect">
            <a:avLst/>
          </a:prstGeom>
          <a:solidFill>
            <a:srgbClr val="192037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4736592"/>
            <a:ext cx="2011680" cy="2834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2BCF82"/>
                </a:solidFill>
                <a:latin typeface="Aptos"/>
              </a:defRPr>
            </a:pPr>
            <a:r>
              <a:t>Webapp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4709160"/>
            <a:ext cx="22402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6F8FF"/>
                </a:solidFill>
                <a:latin typeface="Aptos"/>
              </a:defRPr>
            </a:pPr>
            <a:r>
              <a:t>10–200 massimi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96128" y="4736592"/>
            <a:ext cx="5532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A6B2CF"/>
                </a:solidFill>
                <a:latin typeface="Aptos"/>
              </a:defRPr>
            </a:pPr>
            <a:r>
              <a:t>Sottografo dinamico; il valore è un limite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07008" y="5669280"/>
            <a:ext cx="9738360" cy="457200"/>
          </a:xfrm>
          <a:prstGeom prst="roundRect">
            <a:avLst/>
          </a:prstGeom>
          <a:solidFill>
            <a:srgbClr val="222B48"/>
          </a:solidFill>
          <a:ln>
            <a:solidFill>
              <a:srgbClr val="5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417320" y="5769864"/>
            <a:ext cx="93268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F6F8FF"/>
                </a:solidFill>
                <a:latin typeface="Aptos"/>
              </a:defRPr>
            </a:pPr>
            <a:r>
              <a:t>Quindi i 14 nodi non sono tutti i punti visibili sulla mappa.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269FF"/>
          </a:solidFill>
          <a:ln>
            <a:solidFill>
              <a:srgbClr val="5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02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36CA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92024"/>
            <a:ext cx="105613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6F8FF"/>
                </a:solidFill>
                <a:latin typeface="Aptos"/>
              </a:defRPr>
            </a:pPr>
            <a:r>
              <a:t>Quanti nodi ha una strada OSM?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36792"/>
            <a:ext cx="11155680" cy="18288"/>
          </a:xfrm>
          <a:prstGeom prst="rect">
            <a:avLst/>
          </a:prstGeom>
          <a:solidFill>
            <a:srgbClr val="3C4665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400800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6CAFF"/>
                </a:solidFill>
                <a:latin typeface="Aptos"/>
              </a:defRPr>
            </a:pPr>
            <a:r>
              <a:t>Relatore: Elisa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400800"/>
            <a:ext cx="4114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6B2CF"/>
                </a:solidFill>
                <a:latin typeface="Aptos"/>
              </a:defRPr>
            </a:pPr>
            <a:r>
              <a:t>Map Construction in PDDL+ | Presentazione d'esame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115568"/>
            <a:ext cx="1078992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F6F8FF"/>
                </a:solidFill>
                <a:latin typeface="Aptos"/>
              </a:defRPr>
            </a:pPr>
            <a:r>
              <a:t>Non esiste un numero fisso: ogni way contiene almeno 2 node e può averne molti.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3383280" cy="1847088"/>
          </a:xfrm>
          <a:prstGeom prst="roundRect">
            <a:avLst/>
          </a:prstGeom>
          <a:solidFill>
            <a:srgbClr val="192037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1783080"/>
            <a:ext cx="64008" cy="1847088"/>
          </a:xfrm>
          <a:prstGeom prst="roundRect">
            <a:avLst/>
          </a:prstGeom>
          <a:solidFill>
            <a:srgbClr val="36CAFF"/>
          </a:solidFill>
          <a:ln>
            <a:solidFill>
              <a:srgbClr val="36C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947672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36CAFF"/>
                </a:solidFill>
                <a:latin typeface="Aptos"/>
              </a:defRPr>
            </a:pPr>
            <a:r>
              <a:t>ZONA PICCOLA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340864"/>
            <a:ext cx="3017520" cy="1152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6F8FF"/>
                </a:solidFill>
                <a:latin typeface="Aptos"/>
              </a:defRPr>
            </a:pPr>
            <a:r>
              <a:t>214 way percorribili · media 3,73 node/way · minimo 2 · massimo 16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8" y="1783080"/>
            <a:ext cx="3383280" cy="1847088"/>
          </a:xfrm>
          <a:prstGeom prst="roundRect">
            <a:avLst/>
          </a:prstGeom>
          <a:solidFill>
            <a:srgbClr val="192037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407408" y="1783080"/>
            <a:ext cx="64008" cy="1847088"/>
          </a:xfrm>
          <a:prstGeom prst="roundRect">
            <a:avLst/>
          </a:prstGeom>
          <a:solidFill>
            <a:srgbClr val="5269FF"/>
          </a:solidFill>
          <a:ln>
            <a:solidFill>
              <a:srgbClr val="5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08576" y="1947672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5269FF"/>
                </a:solidFill>
                <a:latin typeface="Aptos"/>
              </a:defRPr>
            </a:pPr>
            <a:r>
              <a:t>ZONA MEDIA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2340864"/>
            <a:ext cx="3017520" cy="1152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6F8FF"/>
                </a:solidFill>
                <a:latin typeface="Aptos"/>
              </a:defRPr>
            </a:pPr>
            <a:r>
              <a:t>783 way percorribili · media 6,14 node/way · minimo 2 · massimo 67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9016" y="1783080"/>
            <a:ext cx="3383280" cy="1847088"/>
          </a:xfrm>
          <a:prstGeom prst="roundRect">
            <a:avLst/>
          </a:prstGeom>
          <a:solidFill>
            <a:srgbClr val="192037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129016" y="1783080"/>
            <a:ext cx="64008" cy="1847088"/>
          </a:xfrm>
          <a:prstGeom prst="roundRect">
            <a:avLst/>
          </a:prstGeom>
          <a:solidFill>
            <a:srgbClr val="FFB52C"/>
          </a:solidFill>
          <a:ln>
            <a:solidFill>
              <a:srgbClr val="FFB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30184" y="1947672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B52C"/>
                </a:solidFill>
                <a:latin typeface="Aptos"/>
              </a:defRPr>
            </a:pPr>
            <a:r>
              <a:t>ZONA GRANDE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184" y="2340864"/>
            <a:ext cx="3017520" cy="1152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6F8FF"/>
                </a:solidFill>
                <a:latin typeface="Aptos"/>
              </a:defRPr>
            </a:pPr>
            <a:r>
              <a:t>3320 way percorribili · media 5,89 node/way · minimo 2 · massimo 106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160520"/>
            <a:ext cx="1554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BCF82"/>
                </a:solidFill>
                <a:latin typeface="Aptos"/>
              </a:defRPr>
            </a:pPr>
            <a:r>
              <a:t>Esempio reale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526280"/>
            <a:ext cx="103784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F6F8FF"/>
                </a:solidFill>
                <a:latin typeface="Aptos"/>
              </a:defRPr>
            </a:pPr>
            <a:r>
              <a:t>Greek Street è una way con 8 node OSM. Dopo la contrazione può generare uno o più tratti tra incroci; ogni tratto PDDL ha sempre due estremi.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5577840"/>
            <a:ext cx="9555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36CAFF"/>
                </a:solidFill>
                <a:latin typeface="Aptos"/>
              </a:defRPr>
            </a:pPr>
            <a:r>
              <a:t>node OSM = punto geometrico   |   oggetto PDDL = incrocio selezionato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269FF"/>
          </a:solidFill>
          <a:ln>
            <a:solidFill>
              <a:srgbClr val="5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02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36CAF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92024"/>
            <a:ext cx="105613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6F8FF"/>
                </a:solidFill>
                <a:latin typeface="Aptos"/>
              </a:defRPr>
            </a:pPr>
            <a:r>
              <a:t>Come costruiamo il grafo contratto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36792"/>
            <a:ext cx="11155680" cy="18288"/>
          </a:xfrm>
          <a:prstGeom prst="rect">
            <a:avLst/>
          </a:prstGeom>
          <a:solidFill>
            <a:srgbClr val="3C4665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400800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6CAFF"/>
                </a:solidFill>
                <a:latin typeface="Aptos"/>
              </a:defRPr>
            </a:pPr>
            <a:r>
              <a:t>Relatore: Elisa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400800"/>
            <a:ext cx="4114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6B2CF"/>
                </a:solidFill>
                <a:latin typeface="Aptos"/>
              </a:defRPr>
            </a:pPr>
            <a:r>
              <a:t>Map Construction in PDDL+ | Presentazione d'esame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143000"/>
            <a:ext cx="3401568" cy="2157984"/>
          </a:xfrm>
          <a:prstGeom prst="roundRect">
            <a:avLst/>
          </a:prstGeom>
          <a:solidFill>
            <a:srgbClr val="192037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85800" y="1143000"/>
            <a:ext cx="64008" cy="2157984"/>
          </a:xfrm>
          <a:prstGeom prst="roundRect">
            <a:avLst/>
          </a:prstGeom>
          <a:solidFill>
            <a:srgbClr val="36CAFF"/>
          </a:solidFill>
          <a:ln>
            <a:solidFill>
              <a:srgbClr val="36C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307592"/>
            <a:ext cx="30358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36CAFF"/>
                </a:solidFill>
                <a:latin typeface="Aptos"/>
              </a:defRPr>
            </a:pPr>
            <a:r>
              <a:t>1 · FILTRO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700784"/>
            <a:ext cx="3035808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6F8FF"/>
                </a:solidFill>
                <a:latin typeface="Aptos"/>
              </a:defRPr>
            </a:pPr>
            <a:r>
              <a:t>Manteniamo solo highway percorribili: primary, secondary, tertiary, residential, link, unclassified, living_street e altre categorie previste.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143000"/>
            <a:ext cx="3401568" cy="2157984"/>
          </a:xfrm>
          <a:prstGeom prst="roundRect">
            <a:avLst/>
          </a:prstGeom>
          <a:solidFill>
            <a:srgbClr val="192037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389120" y="1143000"/>
            <a:ext cx="64008" cy="2157984"/>
          </a:xfrm>
          <a:prstGeom prst="roundRect">
            <a:avLst/>
          </a:prstGeom>
          <a:solidFill>
            <a:srgbClr val="5269FF"/>
          </a:solidFill>
          <a:ln>
            <a:solidFill>
              <a:srgbClr val="5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1307592"/>
            <a:ext cx="30358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5269FF"/>
                </a:solidFill>
                <a:latin typeface="Aptos"/>
              </a:defRPr>
            </a:pPr>
            <a:r>
              <a:t>2 · INCROCI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1700784"/>
            <a:ext cx="3035808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6F8FF"/>
                </a:solidFill>
                <a:latin typeface="Aptos"/>
              </a:defRPr>
            </a:pPr>
            <a:r>
              <a:t>Sono junction le estremità di una way e i node che compaiono in almeno due way. I punti intermedi non sono scelte di navigazione.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143000"/>
            <a:ext cx="3401568" cy="2157984"/>
          </a:xfrm>
          <a:prstGeom prst="roundRect">
            <a:avLst/>
          </a:prstGeom>
          <a:solidFill>
            <a:srgbClr val="192037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092440" y="1143000"/>
            <a:ext cx="64008" cy="2157984"/>
          </a:xfrm>
          <a:prstGeom prst="roundRect">
            <a:avLst/>
          </a:prstGeom>
          <a:solidFill>
            <a:srgbClr val="2BCF82"/>
          </a:solidFill>
          <a:ln>
            <a:solidFill>
              <a:srgbClr val="2BC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3608" y="1307592"/>
            <a:ext cx="30358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BCF82"/>
                </a:solidFill>
                <a:latin typeface="Aptos"/>
              </a:defRPr>
            </a:pPr>
            <a:r>
              <a:t>3 · CONTRAZIONE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1700784"/>
            <a:ext cx="3035808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6F8FF"/>
                </a:solidFill>
                <a:latin typeface="Aptos"/>
              </a:defRPr>
            </a:pPr>
            <a:r>
              <a:t>Tra due junction consecutive sommiamo le distanze dei segmenti GPS e creiamo un arco diretto.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" y="3858768"/>
            <a:ext cx="10332720" cy="1051560"/>
          </a:xfrm>
          <a:prstGeom prst="roundRect">
            <a:avLst/>
          </a:prstGeom>
          <a:solidFill>
            <a:srgbClr val="222B48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34440" y="4096512"/>
            <a:ext cx="374903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A6B2CF"/>
                </a:solidFill>
                <a:latin typeface="Cascadia Mono"/>
              </a:defRPr>
            </a:pPr>
            <a:r>
              <a:t>p0 — p1 — p2 — p3 — p4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02352" y="4087368"/>
            <a:ext cx="685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FFB52C"/>
                </a:solidFill>
                <a:latin typeface="Aptos"/>
              </a:defRPr>
            </a:pPr>
            <a:r>
              <a:t>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33872" y="4096512"/>
            <a:ext cx="4892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F6F8FF"/>
                </a:solidFill>
                <a:latin typeface="Cascadia Mono"/>
              </a:defRPr>
            </a:pPr>
            <a:r>
              <a:t>incrocio A ───── incrocio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303520"/>
            <a:ext cx="1014984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36CAFF"/>
                </a:solidFill>
                <a:latin typeface="Aptos"/>
              </a:defRPr>
            </a:pPr>
            <a:r>
              <a:t>La distanza dell'arco A→B è la somma delle distanze Haversine p0-p1, p1-p2, 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269FF"/>
          </a:solidFill>
          <a:ln>
            <a:solidFill>
              <a:srgbClr val="5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02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36CAF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92024"/>
            <a:ext cx="105613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6F8FF"/>
                </a:solidFill>
                <a:latin typeface="Aptos"/>
              </a:defRPr>
            </a:pPr>
            <a:r>
              <a:t>Da dove viene la velocità di ogni strada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36792"/>
            <a:ext cx="11155680" cy="18288"/>
          </a:xfrm>
          <a:prstGeom prst="rect">
            <a:avLst/>
          </a:prstGeom>
          <a:solidFill>
            <a:srgbClr val="3C4665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400800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6CAFF"/>
                </a:solidFill>
                <a:latin typeface="Aptos"/>
              </a:defRPr>
            </a:pPr>
            <a:r>
              <a:t>Relatore: Elisa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400800"/>
            <a:ext cx="4114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6B2CF"/>
                </a:solidFill>
                <a:latin typeface="Aptos"/>
              </a:defRPr>
            </a:pPr>
            <a:r>
              <a:t>Map Construction in PDDL+ | Presentazione d'esame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143000"/>
            <a:ext cx="4892040" cy="1920240"/>
          </a:xfrm>
          <a:prstGeom prst="roundRect">
            <a:avLst/>
          </a:prstGeom>
          <a:solidFill>
            <a:srgbClr val="070B16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1508760"/>
            <a:ext cx="4251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2BCF82"/>
                </a:solidFill>
                <a:latin typeface="Cascadia Mono"/>
              </a:defRPr>
            </a:pPr>
            <a:r>
              <a:t>&lt;tag k="maxspeed" v="30"/&gt;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40280"/>
            <a:ext cx="4434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1">
                <a:solidFill>
                  <a:srgbClr val="F6F8FF"/>
                </a:solidFill>
                <a:latin typeface="Aptos"/>
              </a:defRPr>
            </a:pPr>
            <a:r>
              <a:t>30 km/h × 1000 / 3600 = 8,33 m/s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170432"/>
            <a:ext cx="5257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F6F8FF"/>
                </a:solidFill>
                <a:latin typeface="Aptos"/>
              </a:defRPr>
            </a:pPr>
            <a:r>
              <a:t>•  Il tag maxspeed appartiene alla way OSM.</a:t>
            </a:r>
          </a:p>
          <a:p>
            <a:pPr>
              <a:spcAft>
                <a:spcPts val="900"/>
              </a:spcAft>
              <a:defRPr sz="1700">
                <a:solidFill>
                  <a:srgbClr val="F6F8FF"/>
                </a:solidFill>
                <a:latin typeface="Aptos"/>
              </a:defRPr>
            </a:pPr>
            <a:r>
              <a:t>•  Tutti i tratti contratti derivati da quella way ereditano la stessa velocità.</a:t>
            </a:r>
          </a:p>
          <a:p>
            <a:pPr>
              <a:spcAft>
                <a:spcPts val="900"/>
              </a:spcAft>
              <a:defRPr sz="1700">
                <a:solidFill>
                  <a:srgbClr val="F6F8FF"/>
                </a:solidFill>
                <a:latin typeface="Aptos"/>
              </a:defRPr>
            </a:pPr>
            <a:r>
              <a:t>•  Se maxspeed manca o non è numerico, il codice usa 30 km/h.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68503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FB52C"/>
                </a:solidFill>
                <a:latin typeface="Aptos"/>
              </a:defRPr>
            </a:pPr>
            <a:r>
              <a:t>Distribuzione nei file usati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4114800"/>
            <a:ext cx="3383280" cy="1234440"/>
          </a:xfrm>
          <a:prstGeom prst="roundRect">
            <a:avLst/>
          </a:prstGeom>
          <a:solidFill>
            <a:srgbClr val="192037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13232" y="4114800"/>
            <a:ext cx="64008" cy="1234440"/>
          </a:xfrm>
          <a:prstGeom prst="roundRect">
            <a:avLst/>
          </a:prstGeom>
          <a:solidFill>
            <a:srgbClr val="36CAFF"/>
          </a:solidFill>
          <a:ln>
            <a:solidFill>
              <a:srgbClr val="36C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279392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36CAFF"/>
                </a:solidFill>
                <a:latin typeface="Aptos"/>
              </a:defRPr>
            </a:pPr>
            <a:r>
              <a:t>PICCOLA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72584"/>
            <a:ext cx="3017520" cy="539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6F8FF"/>
                </a:solidFill>
                <a:latin typeface="Aptos"/>
              </a:defRPr>
            </a:pPr>
            <a:r>
              <a:t>175 way a 30 km/h · 39 a 50 km/h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07408" y="4114800"/>
            <a:ext cx="3383280" cy="1234440"/>
          </a:xfrm>
          <a:prstGeom prst="roundRect">
            <a:avLst/>
          </a:prstGeom>
          <a:solidFill>
            <a:srgbClr val="192037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407408" y="4114800"/>
            <a:ext cx="64008" cy="1234440"/>
          </a:xfrm>
          <a:prstGeom prst="roundRect">
            <a:avLst/>
          </a:prstGeom>
          <a:solidFill>
            <a:srgbClr val="5269FF"/>
          </a:solidFill>
          <a:ln>
            <a:solidFill>
              <a:srgbClr val="5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08576" y="4279392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5269FF"/>
                </a:solidFill>
                <a:latin typeface="Aptos"/>
              </a:defRPr>
            </a:pPr>
            <a:r>
              <a:t>MEDIA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4672584"/>
            <a:ext cx="3017520" cy="539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6F8FF"/>
                </a:solidFill>
                <a:latin typeface="Aptos"/>
              </a:defRPr>
            </a:pPr>
            <a:r>
              <a:t>491 a 30 · 276 a 50 · 10 senza maxspeed · 6 a 15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1583" y="4114800"/>
            <a:ext cx="3383280" cy="1234440"/>
          </a:xfrm>
          <a:prstGeom prst="roundRect">
            <a:avLst/>
          </a:prstGeom>
          <a:solidFill>
            <a:srgbClr val="192037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101583" y="4114800"/>
            <a:ext cx="64008" cy="1234440"/>
          </a:xfrm>
          <a:prstGeom prst="roundRect">
            <a:avLst/>
          </a:prstGeom>
          <a:solidFill>
            <a:srgbClr val="FFB52C"/>
          </a:solidFill>
          <a:ln>
            <a:solidFill>
              <a:srgbClr val="FFB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02752" y="4279392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B52C"/>
                </a:solidFill>
                <a:latin typeface="Aptos"/>
              </a:defRPr>
            </a:pPr>
            <a:r>
              <a:t>GRANDE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4672584"/>
            <a:ext cx="3017520" cy="539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6F8FF"/>
                </a:solidFill>
                <a:latin typeface="Aptos"/>
              </a:defRPr>
            </a:pPr>
            <a:r>
              <a:t>2141 a 30 · 1028 a 50 · presenti anche 15, 20, 40 e 80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715000"/>
            <a:ext cx="9738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F5363"/>
                </a:solidFill>
                <a:latin typeface="Aptos"/>
              </a:defRPr>
            </a:pPr>
            <a:r>
              <a:t>Limite: il parser assume che il valore numerico sia espresso in km/h.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269FF"/>
          </a:solidFill>
          <a:ln>
            <a:solidFill>
              <a:srgbClr val="5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02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36CAFF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92024"/>
            <a:ext cx="105613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6F8FF"/>
                </a:solidFill>
                <a:latin typeface="Aptos"/>
              </a:defRPr>
            </a:pPr>
            <a:r>
              <a:t>Distanze e sensi unici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36792"/>
            <a:ext cx="11155680" cy="18288"/>
          </a:xfrm>
          <a:prstGeom prst="rect">
            <a:avLst/>
          </a:prstGeom>
          <a:solidFill>
            <a:srgbClr val="3C4665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400800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6CAFF"/>
                </a:solidFill>
                <a:latin typeface="Aptos"/>
              </a:defRPr>
            </a:pPr>
            <a:r>
              <a:t>Relatore: Elisa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400800"/>
            <a:ext cx="4114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6B2CF"/>
                </a:solidFill>
                <a:latin typeface="Aptos"/>
              </a:defRPr>
            </a:pPr>
            <a:r>
              <a:t>Map Construction in PDDL+ | Presentazione d'esame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34440"/>
            <a:ext cx="5257800" cy="2176272"/>
          </a:xfrm>
          <a:prstGeom prst="roundRect">
            <a:avLst/>
          </a:prstGeom>
          <a:solidFill>
            <a:srgbClr val="192037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85800" y="1234440"/>
            <a:ext cx="64008" cy="2176272"/>
          </a:xfrm>
          <a:prstGeom prst="roundRect">
            <a:avLst/>
          </a:prstGeom>
          <a:solidFill>
            <a:srgbClr val="5269FF"/>
          </a:solidFill>
          <a:ln>
            <a:solidFill>
              <a:srgbClr val="5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399032"/>
            <a:ext cx="4892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5269FF"/>
                </a:solidFill>
                <a:latin typeface="Aptos"/>
              </a:defRPr>
            </a:pPr>
            <a:r>
              <a:t>DISTANZA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792224"/>
            <a:ext cx="4892040" cy="1481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6F8FF"/>
                </a:solidFill>
                <a:latin typeface="Aptos"/>
              </a:defRPr>
            </a:pPr>
            <a:r>
              <a:t>Ogni coppia di coordinate viene misurata con Haversine, che considera la curvatura terrestre. Le distanze dei punti intermedi vengono sommate.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234440"/>
            <a:ext cx="5257800" cy="2176272"/>
          </a:xfrm>
          <a:prstGeom prst="roundRect">
            <a:avLst/>
          </a:prstGeom>
          <a:solidFill>
            <a:srgbClr val="192037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36208" y="1234440"/>
            <a:ext cx="64008" cy="2176272"/>
          </a:xfrm>
          <a:prstGeom prst="roundRect">
            <a:avLst/>
          </a:prstGeom>
          <a:solidFill>
            <a:srgbClr val="2BCF82"/>
          </a:solidFill>
          <a:ln>
            <a:solidFill>
              <a:srgbClr val="2BC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37376" y="1399032"/>
            <a:ext cx="48920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BCF82"/>
                </a:solidFill>
                <a:latin typeface="Aptos"/>
              </a:defRPr>
            </a:pPr>
            <a:r>
              <a:t>DIREZIONE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1792224"/>
            <a:ext cx="4892040" cy="1481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6F8FF"/>
                </a:solidFill>
                <a:latin typeface="Aptos"/>
              </a:defRPr>
            </a:pPr>
            <a:r>
              <a:t>Se oneway=yes viene creato solo A→B. Negli altri casi il codice crea anche B→A, scegliendo il tratto più corto se esistono duplicati.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886200"/>
            <a:ext cx="10808208" cy="1097280"/>
          </a:xfrm>
          <a:prstGeom prst="roundRect">
            <a:avLst/>
          </a:prstGeom>
          <a:solidFill>
            <a:srgbClr val="222B48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4096512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B52C"/>
                </a:solidFill>
                <a:latin typeface="Aptos"/>
              </a:defRPr>
            </a:pPr>
            <a:r>
              <a:t>Formula concettuale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4069080"/>
            <a:ext cx="81838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F6F8FF"/>
                </a:solidFill>
                <a:latin typeface="Cascadia Mono"/>
              </a:defRPr>
            </a:pPr>
            <a:r>
              <a:t>distance(A,B) = Σ Haversine(nodeᵢ, nodeᵢ₊₁)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440680"/>
            <a:ext cx="99212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36CAFF"/>
                </a:solidFill>
                <a:latin typeface="Aptos"/>
              </a:defRPr>
            </a:pPr>
            <a:r>
              <a:t>Dati reali: nella zona piccola 163 way sono one-way e 51 sono bidirezionali.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269FF"/>
          </a:solidFill>
          <a:ln>
            <a:solidFill>
              <a:srgbClr val="5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02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36CAF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92024"/>
            <a:ext cx="105613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6F8FF"/>
                </a:solidFill>
                <a:latin typeface="Aptos"/>
              </a:defRPr>
            </a:pPr>
            <a:r>
              <a:t>Come riconosciamo i semafori nel 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36792"/>
            <a:ext cx="11155680" cy="18288"/>
          </a:xfrm>
          <a:prstGeom prst="rect">
            <a:avLst/>
          </a:prstGeom>
          <a:solidFill>
            <a:srgbClr val="3C4665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400800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6CAFF"/>
                </a:solidFill>
                <a:latin typeface="Aptos"/>
              </a:defRPr>
            </a:pPr>
            <a:r>
              <a:t>Relatore: Elisa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400800"/>
            <a:ext cx="4114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6B2CF"/>
                </a:solidFill>
                <a:latin typeface="Aptos"/>
              </a:defRPr>
            </a:pPr>
            <a:r>
              <a:t>Map Construction in PDDL+ | Presentazione d'esame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143000"/>
            <a:ext cx="5074920" cy="2011680"/>
          </a:xfrm>
          <a:prstGeom prst="roundRect">
            <a:avLst/>
          </a:prstGeom>
          <a:solidFill>
            <a:srgbClr val="070B16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45262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2BCF82"/>
                </a:solidFill>
                <a:latin typeface="Cascadia Mono"/>
              </a:defRPr>
            </a:pPr>
            <a:r>
              <a:t>&lt;node id="1442755" lat="53.346805" lon="-6.2659153"&gt;</a:t>
            </a:r>
            <a:br/>
            <a:r>
              <a:t>  &lt;tag k="highway" v="traffic_signals"/&gt;</a:t>
            </a:r>
            <a:br/>
            <a:r>
              <a:t>&lt;/node&gt;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44768" y="1143000"/>
            <a:ext cx="50749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F6F8FF"/>
                </a:solidFill>
                <a:latin typeface="Aptos"/>
              </a:defRPr>
            </a:pPr>
            <a:r>
              <a:t>•  Il parser legge i tag di ogni node.</a:t>
            </a:r>
          </a:p>
          <a:p>
            <a:pPr>
              <a:spcAft>
                <a:spcPts val="900"/>
              </a:spcAft>
              <a:defRPr sz="1700">
                <a:solidFill>
                  <a:srgbClr val="F6F8FF"/>
                </a:solidFill>
                <a:latin typeface="Aptos"/>
              </a:defRPr>
            </a:pPr>
            <a:r>
              <a:t>•  Se highway=traffic_signals, salva l'ID in signal_node_ids.</a:t>
            </a:r>
          </a:p>
          <a:p>
            <a:pPr>
              <a:spcAft>
                <a:spcPts val="900"/>
              </a:spcAft>
              <a:defRPr sz="1700">
                <a:solidFill>
                  <a:srgbClr val="F6F8FF"/>
                </a:solidFill>
                <a:latin typeface="Aptos"/>
              </a:defRPr>
            </a:pPr>
            <a:r>
              <a:t>•  Nel PDDL generato: signal-delay=30; sugli altri nodi vale 0.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703320"/>
            <a:ext cx="3383280" cy="1325880"/>
          </a:xfrm>
          <a:prstGeom prst="roundRect">
            <a:avLst/>
          </a:prstGeom>
          <a:solidFill>
            <a:srgbClr val="192037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3703320"/>
            <a:ext cx="64008" cy="1325880"/>
          </a:xfrm>
          <a:prstGeom prst="roundRect">
            <a:avLst/>
          </a:prstGeom>
          <a:solidFill>
            <a:srgbClr val="36CAFF"/>
          </a:solidFill>
          <a:ln>
            <a:solidFill>
              <a:srgbClr val="36C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6968" y="3867911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36CAFF"/>
                </a:solidFill>
                <a:latin typeface="Aptos"/>
              </a:defRPr>
            </a:pPr>
            <a:r>
              <a:t>OSM GREZZO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4261104"/>
            <a:ext cx="3017520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6F8FF"/>
                </a:solidFill>
                <a:latin typeface="Aptos"/>
              </a:defRPr>
            </a:pPr>
            <a:r>
              <a:t>37 segnali nella piccola · 145 nella media · 635 nella grande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7408" y="3703320"/>
            <a:ext cx="3383280" cy="1325880"/>
          </a:xfrm>
          <a:prstGeom prst="roundRect">
            <a:avLst/>
          </a:prstGeom>
          <a:solidFill>
            <a:srgbClr val="192037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407408" y="3703320"/>
            <a:ext cx="64008" cy="1325880"/>
          </a:xfrm>
          <a:prstGeom prst="roundRect">
            <a:avLst/>
          </a:prstGeom>
          <a:solidFill>
            <a:srgbClr val="5269FF"/>
          </a:solidFill>
          <a:ln>
            <a:solidFill>
              <a:srgbClr val="5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08576" y="3867911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5269FF"/>
                </a:solidFill>
                <a:latin typeface="Aptos"/>
              </a:defRPr>
            </a:pPr>
            <a:r>
              <a:t>SOTTOGRAFI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4261104"/>
            <a:ext cx="3017520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6F8FF"/>
                </a:solidFill>
                <a:latin typeface="Aptos"/>
              </a:defRPr>
            </a:pPr>
            <a:r>
              <a:t>6 segnali selezionati nella media · 6 nella grande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29016" y="3703320"/>
            <a:ext cx="3383280" cy="1325880"/>
          </a:xfrm>
          <a:prstGeom prst="roundRect">
            <a:avLst/>
          </a:prstGeom>
          <a:solidFill>
            <a:srgbClr val="192037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129016" y="3703320"/>
            <a:ext cx="64008" cy="1325880"/>
          </a:xfrm>
          <a:prstGeom prst="roundRect">
            <a:avLst/>
          </a:prstGeom>
          <a:solidFill>
            <a:srgbClr val="FFB52C"/>
          </a:solidFill>
          <a:ln>
            <a:solidFill>
              <a:srgbClr val="FFB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30184" y="3867911"/>
            <a:ext cx="3017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B52C"/>
                </a:solidFill>
                <a:latin typeface="Aptos"/>
              </a:defRPr>
            </a:pPr>
            <a:r>
              <a:t>CASO PICCOLO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0184" y="4261104"/>
            <a:ext cx="3017520" cy="6309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6F8FF"/>
                </a:solidFill>
                <a:latin typeface="Aptos"/>
              </a:defRPr>
            </a:pPr>
            <a:r>
              <a:t>4 ritardi assegnati manualmente anche a nodi vicini (14–68 m), non solo coincidenti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504688"/>
            <a:ext cx="101955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F6F8FF"/>
                </a:solidFill>
                <a:latin typeface="Aptos"/>
              </a:defRPr>
            </a:pPr>
            <a:r>
              <a:t>Il caso piccolo è una baseline curata; media, grande e webapp usano il riconoscimento automatico esatto.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269FF"/>
          </a:solidFill>
          <a:ln>
            <a:solidFill>
              <a:srgbClr val="5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02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B52C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92024"/>
            <a:ext cx="105613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6F8FF"/>
                </a:solidFill>
                <a:latin typeface="Aptos"/>
              </a:defRPr>
            </a:pPr>
            <a:r>
              <a:t>Perché servono due file: domain 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36792"/>
            <a:ext cx="11155680" cy="18288"/>
          </a:xfrm>
          <a:prstGeom prst="rect">
            <a:avLst/>
          </a:prstGeom>
          <a:solidFill>
            <a:srgbClr val="3C4665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400800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B52C"/>
                </a:solidFill>
                <a:latin typeface="Aptos"/>
              </a:defRPr>
            </a:pPr>
            <a:r>
              <a:t>Relatore: Emanuele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400800"/>
            <a:ext cx="4114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6B2CF"/>
                </a:solidFill>
                <a:latin typeface="Aptos"/>
              </a:defRPr>
            </a:pPr>
            <a:r>
              <a:t>Map Construction in PDDL+ | Presentazione d'esame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234440"/>
            <a:ext cx="5230368" cy="2240280"/>
          </a:xfrm>
          <a:prstGeom prst="roundRect">
            <a:avLst/>
          </a:prstGeom>
          <a:solidFill>
            <a:srgbClr val="192037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85800" y="1234440"/>
            <a:ext cx="64008" cy="2240280"/>
          </a:xfrm>
          <a:prstGeom prst="roundRect">
            <a:avLst/>
          </a:prstGeom>
          <a:solidFill>
            <a:srgbClr val="FFB52C"/>
          </a:solidFill>
          <a:ln>
            <a:solidFill>
              <a:srgbClr val="FFB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399032"/>
            <a:ext cx="486460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B52C"/>
                </a:solidFill>
                <a:latin typeface="Aptos"/>
              </a:defRPr>
            </a:pPr>
            <a:r>
              <a:t>DOMAIN.PDDL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792224"/>
            <a:ext cx="4864607" cy="1545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6F8FF"/>
                </a:solidFill>
                <a:latin typeface="Aptos"/>
              </a:defRPr>
            </a:pPr>
            <a:r>
              <a:t>Descrive regole riutilizzabili: tipi, predicati, funzioni, azioni, processi ed eventi. Non contiene una mappa specifica.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234440"/>
            <a:ext cx="5230368" cy="2240280"/>
          </a:xfrm>
          <a:prstGeom prst="roundRect">
            <a:avLst/>
          </a:prstGeom>
          <a:solidFill>
            <a:srgbClr val="192037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63640" y="1234440"/>
            <a:ext cx="64008" cy="2240280"/>
          </a:xfrm>
          <a:prstGeom prst="roundRect">
            <a:avLst/>
          </a:prstGeom>
          <a:solidFill>
            <a:srgbClr val="5269FF"/>
          </a:solidFill>
          <a:ln>
            <a:solidFill>
              <a:srgbClr val="5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4807" y="1399032"/>
            <a:ext cx="4864607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5269FF"/>
                </a:solidFill>
                <a:latin typeface="Aptos"/>
              </a:defRPr>
            </a:pPr>
            <a:r>
              <a:t>PROBLEM_*.PDDL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1792224"/>
            <a:ext cx="4864607" cy="1545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6F8FF"/>
                </a:solidFill>
                <a:latin typeface="Aptos"/>
              </a:defRPr>
            </a:pPr>
            <a:r>
              <a:t>Descrive una singola istanza: oggetti, strade, distanze, velocità, stato iniziale, goal e metrica.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" y="3977639"/>
            <a:ext cx="10332720" cy="1051560"/>
          </a:xfrm>
          <a:prstGeom prst="roundRect">
            <a:avLst/>
          </a:prstGeom>
          <a:solidFill>
            <a:srgbClr val="222B48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70432" y="4251960"/>
            <a:ext cx="1965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FB52C"/>
                </a:solidFill>
                <a:latin typeface="Aptos"/>
              </a:defRPr>
            </a:pPr>
            <a:r>
              <a:t>Stesso dominio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23367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A6B2CF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4251960"/>
            <a:ext cx="21031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5269FF"/>
                </a:solidFill>
                <a:latin typeface="Aptos"/>
              </a:defRPr>
            </a:pPr>
            <a:r>
              <a:t>problemi diversi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4233672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A6B2CF"/>
                </a:solidFill>
                <a:latin typeface="Aptos"/>
              </a:defRPr>
            </a:pPr>
            <a:r>
              <a:t>=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251960"/>
            <a:ext cx="42519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BCF82"/>
                </a:solidFill>
                <a:latin typeface="Aptos"/>
              </a:defRPr>
            </a:pPr>
            <a:r>
              <a:t>stesso comportamento su mappe diverse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5504688"/>
            <a:ext cx="97383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6F8FF"/>
                </a:solidFill>
                <a:latin typeface="Aptos"/>
              </a:defRPr>
            </a:pPr>
            <a:r>
              <a:t>Questa separazione è il principio centrale della modellazione PDDL.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269FF"/>
          </a:solidFill>
          <a:ln>
            <a:solidFill>
              <a:srgbClr val="5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02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B52C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92024"/>
            <a:ext cx="105613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6F8FF"/>
                </a:solidFill>
                <a:latin typeface="Aptos"/>
              </a:defRPr>
            </a:pPr>
            <a:r>
              <a:t>Cosa contiene un problema PDDL+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36792"/>
            <a:ext cx="11155680" cy="18288"/>
          </a:xfrm>
          <a:prstGeom prst="rect">
            <a:avLst/>
          </a:prstGeom>
          <a:solidFill>
            <a:srgbClr val="3C4665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400800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B52C"/>
                </a:solidFill>
                <a:latin typeface="Aptos"/>
              </a:defRPr>
            </a:pPr>
            <a:r>
              <a:t>Relatore: Emanuele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400800"/>
            <a:ext cx="4114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6B2CF"/>
                </a:solidFill>
                <a:latin typeface="Aptos"/>
              </a:defRPr>
            </a:pPr>
            <a:r>
              <a:t>Map Construction in PDDL+ | Presentazione d'esame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097280"/>
            <a:ext cx="4754880" cy="4663440"/>
          </a:xfrm>
          <a:prstGeom prst="roundRect">
            <a:avLst/>
          </a:prstGeom>
          <a:solidFill>
            <a:srgbClr val="070B16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353312"/>
            <a:ext cx="4160520" cy="4069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BCF82"/>
                </a:solidFill>
                <a:latin typeface="Cascadia Mono"/>
              </a:defRPr>
            </a:pPr>
            <a:r>
              <a:t>(:objects a b c - location)</a:t>
            </a:r>
            <a:br/>
            <a:r>
              <a:t>(:init</a:t>
            </a:r>
            <a:br/>
            <a:r>
              <a:t>  (at a)</a:t>
            </a:r>
            <a:br/>
            <a:r>
              <a:t>  (road a b)</a:t>
            </a:r>
            <a:br/>
            <a:r>
              <a:t>  (= (distance a b) 173)</a:t>
            </a:r>
            <a:br/>
            <a:r>
              <a:t>  (= (speed a b) 8.33)</a:t>
            </a:r>
            <a:br/>
            <a:r>
              <a:t>  (= (progress a b) 0)</a:t>
            </a:r>
            <a:br/>
            <a:r>
              <a:t>  (= (signal-delay b) 30)</a:t>
            </a:r>
            <a:br/>
            <a:r>
              <a:t>  (= (total-time) 0))</a:t>
            </a:r>
            <a:br/>
            <a:r>
              <a:t>(:goal (at c))</a:t>
            </a:r>
            <a:br/>
            <a:r>
              <a:t>(:metric minimize (total-time))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33872" y="1188720"/>
            <a:ext cx="534924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F6F8FF"/>
                </a:solidFill>
                <a:latin typeface="Aptos"/>
              </a:defRPr>
            </a:pPr>
            <a:r>
              <a:t>•  objects: incroci selezionati</a:t>
            </a:r>
          </a:p>
          <a:p>
            <a:pPr>
              <a:spcAft>
                <a:spcPts val="900"/>
              </a:spcAft>
              <a:defRPr sz="1700">
                <a:solidFill>
                  <a:srgbClr val="F6F8FF"/>
                </a:solidFill>
                <a:latin typeface="Aptos"/>
              </a:defRPr>
            </a:pPr>
            <a:r>
              <a:t>•  road: arco diretto percorribile</a:t>
            </a:r>
          </a:p>
          <a:p>
            <a:pPr>
              <a:spcAft>
                <a:spcPts val="900"/>
              </a:spcAft>
              <a:defRPr sz="1700">
                <a:solidFill>
                  <a:srgbClr val="F6F8FF"/>
                </a:solidFill>
                <a:latin typeface="Aptos"/>
              </a:defRPr>
            </a:pPr>
            <a:r>
              <a:t>•  distance e speed: dati numerici del tratto</a:t>
            </a:r>
          </a:p>
          <a:p>
            <a:pPr>
              <a:spcAft>
                <a:spcPts val="900"/>
              </a:spcAft>
              <a:defRPr sz="1700">
                <a:solidFill>
                  <a:srgbClr val="F6F8FF"/>
                </a:solidFill>
                <a:latin typeface="Aptos"/>
              </a:defRPr>
            </a:pPr>
            <a:r>
              <a:t>•  progress: metri già percorsi</a:t>
            </a:r>
          </a:p>
          <a:p>
            <a:pPr>
              <a:spcAft>
                <a:spcPts val="900"/>
              </a:spcAft>
              <a:defRPr sz="1700">
                <a:solidFill>
                  <a:srgbClr val="F6F8FF"/>
                </a:solidFill>
                <a:latin typeface="Aptos"/>
              </a:defRPr>
            </a:pPr>
            <a:r>
              <a:t>•  signal-delay: costo associato all'arrivo</a:t>
            </a:r>
          </a:p>
          <a:p>
            <a:pPr>
              <a:spcAft>
                <a:spcPts val="900"/>
              </a:spcAft>
              <a:defRPr sz="1700">
                <a:solidFill>
                  <a:srgbClr val="F6F8FF"/>
                </a:solidFill>
                <a:latin typeface="Aptos"/>
              </a:defRPr>
            </a:pPr>
            <a:r>
              <a:t>•  at: posizione iniziale e goal</a:t>
            </a:r>
          </a:p>
          <a:p>
            <a:pPr>
              <a:spcAft>
                <a:spcPts val="900"/>
              </a:spcAft>
              <a:defRPr sz="1700">
                <a:solidFill>
                  <a:srgbClr val="F6F8FF"/>
                </a:solidFill>
                <a:latin typeface="Aptos"/>
              </a:defRPr>
            </a:pPr>
            <a:r>
              <a:t>•  metric: funzione da minimizzare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269FF"/>
          </a:solidFill>
          <a:ln>
            <a:solidFill>
              <a:srgbClr val="5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02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B52C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92024"/>
            <a:ext cx="105613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6F8FF"/>
                </a:solidFill>
                <a:latin typeface="Aptos"/>
              </a:defRPr>
            </a:pPr>
            <a:r>
              <a:t>Predicati e funzioni del dominio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36792"/>
            <a:ext cx="11155680" cy="18288"/>
          </a:xfrm>
          <a:prstGeom prst="rect">
            <a:avLst/>
          </a:prstGeom>
          <a:solidFill>
            <a:srgbClr val="3C4665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400800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B52C"/>
                </a:solidFill>
                <a:latin typeface="Aptos"/>
              </a:defRPr>
            </a:pPr>
            <a:r>
              <a:t>Relatore: Emanuele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400800"/>
            <a:ext cx="4114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6B2CF"/>
                </a:solidFill>
                <a:latin typeface="Aptos"/>
              </a:defRPr>
            </a:pPr>
            <a:r>
              <a:t>Map Construction in PDDL+ | Presentazione d'esame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124712"/>
            <a:ext cx="2743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36CAFF"/>
                </a:solidFill>
                <a:latin typeface="Aptos"/>
              </a:defRPr>
            </a:pPr>
            <a:r>
              <a:t>Predicati booleani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572768"/>
            <a:ext cx="3364992" cy="1298448"/>
          </a:xfrm>
          <a:prstGeom prst="roundRect">
            <a:avLst/>
          </a:prstGeom>
          <a:solidFill>
            <a:srgbClr val="192037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1572768"/>
            <a:ext cx="64008" cy="1298448"/>
          </a:xfrm>
          <a:prstGeom prst="roundRect">
            <a:avLst/>
          </a:prstGeom>
          <a:solidFill>
            <a:srgbClr val="36CAFF"/>
          </a:solidFill>
          <a:ln>
            <a:solidFill>
              <a:srgbClr val="36C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737360"/>
            <a:ext cx="29992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36CAFF"/>
                </a:solidFill>
                <a:latin typeface="Aptos"/>
              </a:defRPr>
            </a:pPr>
            <a:r>
              <a:t>at(l)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130552"/>
            <a:ext cx="2999232" cy="6035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6F8FF"/>
                </a:solidFill>
                <a:latin typeface="Aptos"/>
              </a:defRPr>
            </a:pPr>
            <a:r>
              <a:t>Il veicolo è fermo nel nodo 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063240"/>
            <a:ext cx="3364992" cy="1298448"/>
          </a:xfrm>
          <a:prstGeom prst="roundRect">
            <a:avLst/>
          </a:prstGeom>
          <a:solidFill>
            <a:srgbClr val="192037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85800" y="3063240"/>
            <a:ext cx="64008" cy="1298448"/>
          </a:xfrm>
          <a:prstGeom prst="roundRect">
            <a:avLst/>
          </a:prstGeom>
          <a:solidFill>
            <a:srgbClr val="5269FF"/>
          </a:solidFill>
          <a:ln>
            <a:solidFill>
              <a:srgbClr val="5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" y="3227832"/>
            <a:ext cx="29992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5269FF"/>
                </a:solidFill>
                <a:latin typeface="Aptos"/>
              </a:defRPr>
            </a:pPr>
            <a:r>
              <a:t>road(from,to)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621024"/>
            <a:ext cx="2999232" cy="6035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6F8FF"/>
                </a:solidFill>
                <a:latin typeface="Aptos"/>
              </a:defRPr>
            </a:pPr>
            <a:r>
              <a:t>Esiste un collegamento nella direzione indicata.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553712"/>
            <a:ext cx="3364992" cy="1298448"/>
          </a:xfrm>
          <a:prstGeom prst="roundRect">
            <a:avLst/>
          </a:prstGeom>
          <a:solidFill>
            <a:srgbClr val="192037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85800" y="4553712"/>
            <a:ext cx="64008" cy="1298448"/>
          </a:xfrm>
          <a:prstGeom prst="roundRect">
            <a:avLst/>
          </a:prstGeom>
          <a:solidFill>
            <a:srgbClr val="2BCF82"/>
          </a:solidFill>
          <a:ln>
            <a:solidFill>
              <a:srgbClr val="2BC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4718304"/>
            <a:ext cx="29992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BCF82"/>
                </a:solidFill>
                <a:latin typeface="Aptos"/>
              </a:defRPr>
            </a:pPr>
            <a:r>
              <a:t>moving(from,to)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5111496"/>
            <a:ext cx="2999232" cy="6035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6F8FF"/>
                </a:solidFill>
                <a:latin typeface="Aptos"/>
              </a:defRPr>
            </a:pPr>
            <a:r>
              <a:t>Il veicolo sta percorrendo quel tratto.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1124712"/>
            <a:ext cx="27432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FB52C"/>
                </a:solidFill>
                <a:latin typeface="Aptos"/>
              </a:defRPr>
            </a:pPr>
            <a:r>
              <a:t>Fluenti numerici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98848" y="1572768"/>
            <a:ext cx="3364992" cy="1298448"/>
          </a:xfrm>
          <a:prstGeom prst="roundRect">
            <a:avLst/>
          </a:prstGeom>
          <a:solidFill>
            <a:srgbClr val="192037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498848" y="1572768"/>
            <a:ext cx="64008" cy="1298448"/>
          </a:xfrm>
          <a:prstGeom prst="roundRect">
            <a:avLst/>
          </a:prstGeom>
          <a:solidFill>
            <a:srgbClr val="FFB52C"/>
          </a:solidFill>
          <a:ln>
            <a:solidFill>
              <a:srgbClr val="FFB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00016" y="1737360"/>
            <a:ext cx="29992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B52C"/>
                </a:solidFill>
                <a:latin typeface="Aptos"/>
              </a:defRPr>
            </a:pPr>
            <a:r>
              <a:t>distance / speed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0016" y="2130552"/>
            <a:ext cx="2999232" cy="6035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6F8FF"/>
                </a:solidFill>
                <a:latin typeface="Aptos"/>
              </a:defRPr>
            </a:pPr>
            <a:r>
              <a:t>Costanti del tratto provenienti da OSM.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98848" y="3063240"/>
            <a:ext cx="3364992" cy="1298448"/>
          </a:xfrm>
          <a:prstGeom prst="roundRect">
            <a:avLst/>
          </a:prstGeom>
          <a:solidFill>
            <a:srgbClr val="192037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498848" y="3063240"/>
            <a:ext cx="64008" cy="1298448"/>
          </a:xfrm>
          <a:prstGeom prst="roundRect">
            <a:avLst/>
          </a:prstGeom>
          <a:solidFill>
            <a:srgbClr val="FFB52C"/>
          </a:solidFill>
          <a:ln>
            <a:solidFill>
              <a:srgbClr val="FFB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00016" y="3227832"/>
            <a:ext cx="29992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B52C"/>
                </a:solidFill>
                <a:latin typeface="Aptos"/>
              </a:defRPr>
            </a:pPr>
            <a:r>
              <a:t>progress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3621024"/>
            <a:ext cx="2999232" cy="6035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6F8FF"/>
                </a:solidFill>
                <a:latin typeface="Aptos"/>
              </a:defRPr>
            </a:pPr>
            <a:r>
              <a:t>Variabile continua che cresce durante driving.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98848" y="4553712"/>
            <a:ext cx="3364992" cy="1298448"/>
          </a:xfrm>
          <a:prstGeom prst="roundRect">
            <a:avLst/>
          </a:prstGeom>
          <a:solidFill>
            <a:srgbClr val="192037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4498848" y="4553712"/>
            <a:ext cx="64008" cy="1298448"/>
          </a:xfrm>
          <a:prstGeom prst="roundRect">
            <a:avLst/>
          </a:prstGeom>
          <a:solidFill>
            <a:srgbClr val="FFB52C"/>
          </a:solidFill>
          <a:ln>
            <a:solidFill>
              <a:srgbClr val="FFB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700016" y="4718304"/>
            <a:ext cx="299923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B52C"/>
                </a:solidFill>
                <a:latin typeface="Aptos"/>
              </a:defRPr>
            </a:pPr>
            <a:r>
              <a:t>signal-delay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0016" y="5111496"/>
            <a:ext cx="2999232" cy="6035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6F8FF"/>
                </a:solidFill>
                <a:latin typeface="Aptos"/>
              </a:defRPr>
            </a:pPr>
            <a:r>
              <a:t>0 oppure 30 secondi sul nodo di arrivo.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2752" y="1124712"/>
            <a:ext cx="22860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F5363"/>
                </a:solidFill>
                <a:latin typeface="Aptos"/>
              </a:defRPr>
            </a:pPr>
            <a:r>
              <a:t>Accumulatori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02752" y="1572768"/>
            <a:ext cx="3182112" cy="1755648"/>
          </a:xfrm>
          <a:prstGeom prst="roundRect">
            <a:avLst/>
          </a:prstGeom>
          <a:solidFill>
            <a:srgbClr val="192037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8302752" y="1572768"/>
            <a:ext cx="64008" cy="1755648"/>
          </a:xfrm>
          <a:prstGeom prst="roundRect">
            <a:avLst/>
          </a:prstGeom>
          <a:solidFill>
            <a:srgbClr val="FF5363"/>
          </a:solidFill>
          <a:ln>
            <a:solidFill>
              <a:srgbClr val="FF5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503920" y="1737360"/>
            <a:ext cx="28163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5363"/>
                </a:solidFill>
                <a:latin typeface="Aptos"/>
              </a:defRPr>
            </a:pPr>
            <a:r>
              <a:t>total-dist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2130552"/>
            <a:ext cx="2816352" cy="10607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6F8FF"/>
                </a:solidFill>
                <a:latin typeface="Aptos"/>
              </a:defRPr>
            </a:pPr>
            <a:r>
              <a:t>Somma delle distanze completate.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02752" y="3675887"/>
            <a:ext cx="3182112" cy="1755648"/>
          </a:xfrm>
          <a:prstGeom prst="roundRect">
            <a:avLst/>
          </a:prstGeom>
          <a:solidFill>
            <a:srgbClr val="192037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8302752" y="3675887"/>
            <a:ext cx="64008" cy="1755648"/>
          </a:xfrm>
          <a:prstGeom prst="roundRect">
            <a:avLst/>
          </a:prstGeom>
          <a:solidFill>
            <a:srgbClr val="FF5363"/>
          </a:solidFill>
          <a:ln>
            <a:solidFill>
              <a:srgbClr val="FF5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503920" y="3840479"/>
            <a:ext cx="28163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5363"/>
                </a:solidFill>
                <a:latin typeface="Aptos"/>
              </a:defRPr>
            </a:pPr>
            <a:r>
              <a:t>total-time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4233672"/>
            <a:ext cx="2816352" cy="10607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6F8FF"/>
                </a:solidFill>
                <a:latin typeface="Aptos"/>
              </a:defRPr>
            </a:pPr>
            <a:r>
              <a:t>Somma di distanza/velocità e ritardi semaforici.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269FF"/>
          </a:solidFill>
          <a:ln>
            <a:solidFill>
              <a:srgbClr val="5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02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B52C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92024"/>
            <a:ext cx="105613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6F8FF"/>
                </a:solidFill>
                <a:latin typeface="Aptos"/>
              </a:defRPr>
            </a:pPr>
            <a:r>
              <a:t>Perché azione, processo ed evento sono fatti così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36792"/>
            <a:ext cx="11155680" cy="18288"/>
          </a:xfrm>
          <a:prstGeom prst="rect">
            <a:avLst/>
          </a:prstGeom>
          <a:solidFill>
            <a:srgbClr val="3C4665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400800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B52C"/>
                </a:solidFill>
                <a:latin typeface="Aptos"/>
              </a:defRPr>
            </a:pPr>
            <a:r>
              <a:t>Relatore: Emanuele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400800"/>
            <a:ext cx="4114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6B2CF"/>
                </a:solidFill>
                <a:latin typeface="Aptos"/>
              </a:defRPr>
            </a:pPr>
            <a:r>
              <a:t>Map Construction in PDDL+ | Presentazione d'esame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170432"/>
            <a:ext cx="3401568" cy="2331720"/>
          </a:xfrm>
          <a:prstGeom prst="roundRect">
            <a:avLst/>
          </a:prstGeom>
          <a:solidFill>
            <a:srgbClr val="192037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85800" y="1170432"/>
            <a:ext cx="64008" cy="2331720"/>
          </a:xfrm>
          <a:prstGeom prst="roundRect">
            <a:avLst/>
          </a:prstGeom>
          <a:solidFill>
            <a:srgbClr val="5269FF"/>
          </a:solidFill>
          <a:ln>
            <a:solidFill>
              <a:srgbClr val="5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335024"/>
            <a:ext cx="30358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5269FF"/>
                </a:solidFill>
                <a:latin typeface="Aptos"/>
              </a:defRPr>
            </a:pPr>
            <a:r>
              <a:t>ACTION · start-move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728216"/>
            <a:ext cx="3035808" cy="1636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6F8FF"/>
                </a:solidFill>
                <a:latin typeface="Aptos"/>
              </a:defRPr>
            </a:pPr>
            <a:r>
              <a:t>È una scelta del planner. Richiede at(from) e road(from,to); rimuove at(from), attiva moving e azzera progress.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170432"/>
            <a:ext cx="3401568" cy="2331720"/>
          </a:xfrm>
          <a:prstGeom prst="roundRect">
            <a:avLst/>
          </a:prstGeom>
          <a:solidFill>
            <a:srgbClr val="192037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389120" y="1170432"/>
            <a:ext cx="64008" cy="2331720"/>
          </a:xfrm>
          <a:prstGeom prst="roundRect">
            <a:avLst/>
          </a:prstGeom>
          <a:solidFill>
            <a:srgbClr val="FFB52C"/>
          </a:solidFill>
          <a:ln>
            <a:solidFill>
              <a:srgbClr val="FFB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1335024"/>
            <a:ext cx="30358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B52C"/>
                </a:solidFill>
                <a:latin typeface="Aptos"/>
              </a:defRPr>
            </a:pPr>
            <a:r>
              <a:t>PROCESS · driving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1728216"/>
            <a:ext cx="3035808" cy="1636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6F8FF"/>
                </a:solidFill>
                <a:latin typeface="Aptos"/>
              </a:defRPr>
            </a:pPr>
            <a:r>
              <a:t>Non è una scelta: resta attivo finché moving è vero. Fa crescere progress con speed × #t, quindi modella il moto continuo.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170432"/>
            <a:ext cx="3401568" cy="2331720"/>
          </a:xfrm>
          <a:prstGeom prst="roundRect">
            <a:avLst/>
          </a:prstGeom>
          <a:solidFill>
            <a:srgbClr val="192037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092440" y="1170432"/>
            <a:ext cx="64008" cy="2331720"/>
          </a:xfrm>
          <a:prstGeom prst="roundRect">
            <a:avLst/>
          </a:prstGeom>
          <a:solidFill>
            <a:srgbClr val="2BCF82"/>
          </a:solidFill>
          <a:ln>
            <a:solidFill>
              <a:srgbClr val="2BC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3608" y="1335024"/>
            <a:ext cx="30358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BCF82"/>
                </a:solidFill>
                <a:latin typeface="Aptos"/>
              </a:defRPr>
            </a:pPr>
            <a:r>
              <a:t>EVENT · arrive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1728216"/>
            <a:ext cx="3035808" cy="1636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6F8FF"/>
                </a:solidFill>
                <a:latin typeface="Aptos"/>
              </a:defRPr>
            </a:pPr>
            <a:r>
              <a:t>Scatta automaticamente quando progress ≥ distance. Termina moving, assegna at(to) e aggiorna gli accumulatori.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" y="4005072"/>
            <a:ext cx="10378440" cy="1033271"/>
          </a:xfrm>
          <a:prstGeom prst="roundRect">
            <a:avLst/>
          </a:prstGeom>
          <a:solidFill>
            <a:srgbClr val="222B48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34440" y="4325112"/>
            <a:ext cx="2011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5269FF"/>
                </a:solidFill>
                <a:latin typeface="Aptos"/>
              </a:defRPr>
            </a:pPr>
            <a:r>
              <a:t>decisione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0128" y="4325112"/>
            <a:ext cx="3154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FB52C"/>
                </a:solidFill>
                <a:latin typeface="Aptos"/>
              </a:defRPr>
            </a:pPr>
            <a:r>
              <a:t>→ evoluzione fisica 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4325112"/>
            <a:ext cx="41605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BCF82"/>
                </a:solidFill>
                <a:latin typeface="Aptos"/>
              </a:defRPr>
            </a:pPr>
            <a:r>
              <a:t>conseguenza automatica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5468112"/>
            <a:ext cx="10287000" cy="429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6F8FF"/>
                </a:solidFill>
                <a:latin typeface="Aptos"/>
              </a:defRPr>
            </a:pPr>
            <a:r>
              <a:t>PDDL classico non ha processi continui né eventi esogeni: per questo viene usato PDDL+.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269FF"/>
          </a:solidFill>
          <a:ln>
            <a:solidFill>
              <a:srgbClr val="5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02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B52C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92024"/>
            <a:ext cx="105613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6F8FF"/>
                </a:solidFill>
                <a:latin typeface="Aptos"/>
              </a:defRPr>
            </a:pPr>
            <a:r>
              <a:t>Tempo, semafori e funzione obiettivo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36792"/>
            <a:ext cx="11155680" cy="18288"/>
          </a:xfrm>
          <a:prstGeom prst="rect">
            <a:avLst/>
          </a:prstGeom>
          <a:solidFill>
            <a:srgbClr val="3C4665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400800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B52C"/>
                </a:solidFill>
                <a:latin typeface="Aptos"/>
              </a:defRPr>
            </a:pPr>
            <a:r>
              <a:t>Relatore: Emanuele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400800"/>
            <a:ext cx="4114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6B2CF"/>
                </a:solidFill>
                <a:latin typeface="Aptos"/>
              </a:defRPr>
            </a:pPr>
            <a:r>
              <a:t>Map Construction in PDDL+ | Presentazione d'esame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143000"/>
            <a:ext cx="10808208" cy="914400"/>
          </a:xfrm>
          <a:prstGeom prst="roundRect">
            <a:avLst/>
          </a:prstGeom>
          <a:solidFill>
            <a:srgbClr val="070B16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426464"/>
            <a:ext cx="10287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2BCF82"/>
                </a:solidFill>
                <a:latin typeface="Cascadia Mono"/>
              </a:defRPr>
            </a:pPr>
            <a:r>
              <a:t>total-time += distance / speed + signal-delay(to)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5239512" cy="1901952"/>
          </a:xfrm>
          <a:prstGeom prst="roundRect">
            <a:avLst/>
          </a:prstGeom>
          <a:solidFill>
            <a:srgbClr val="192037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85800" y="2514600"/>
            <a:ext cx="64008" cy="1901952"/>
          </a:xfrm>
          <a:prstGeom prst="roundRect">
            <a:avLst/>
          </a:prstGeom>
          <a:solidFill>
            <a:srgbClr val="5269FF"/>
          </a:solidFill>
          <a:ln>
            <a:solidFill>
              <a:srgbClr val="5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" y="2679192"/>
            <a:ext cx="48737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5269FF"/>
                </a:solidFill>
                <a:latin typeface="Aptos"/>
              </a:defRPr>
            </a:pPr>
            <a:r>
              <a:t>PERCHÉ NON #t SU total-time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072384"/>
            <a:ext cx="4873752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6F8FF"/>
                </a:solidFill>
                <a:latin typeface="Aptos"/>
              </a:defRPr>
            </a:pPr>
            <a:r>
              <a:t>Il tempo di guida viene calcolato all'arrivo. Così total-time resta discreto e il planner gestisce meno fluenti continui.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4496" y="2514600"/>
            <a:ext cx="5239512" cy="1901952"/>
          </a:xfrm>
          <a:prstGeom prst="roundRect">
            <a:avLst/>
          </a:prstGeom>
          <a:solidFill>
            <a:srgbClr val="192037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254496" y="2514600"/>
            <a:ext cx="64008" cy="1901952"/>
          </a:xfrm>
          <a:prstGeom prst="roundRect">
            <a:avLst/>
          </a:prstGeom>
          <a:solidFill>
            <a:srgbClr val="FFB52C"/>
          </a:solidFill>
          <a:ln>
            <a:solidFill>
              <a:srgbClr val="FFB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55664" y="2679192"/>
            <a:ext cx="487375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B52C"/>
                </a:solidFill>
                <a:latin typeface="Aptos"/>
              </a:defRPr>
            </a:pPr>
            <a:r>
              <a:t>COSA FANNO I 30 SECONDI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3072384"/>
            <a:ext cx="4873752" cy="12070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6F8FF"/>
                </a:solidFill>
                <a:latin typeface="Aptos"/>
              </a:defRPr>
            </a:pPr>
            <a:r>
              <a:t>Aumentano il costo numerico del piano. Nel modello attuale non obbligano il veicolo a restare fermo 30 secondi nei timestamp.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" y="4892040"/>
            <a:ext cx="10076688" cy="868680"/>
          </a:xfrm>
          <a:prstGeom prst="roundRect">
            <a:avLst/>
          </a:prstGeom>
          <a:solidFill>
            <a:srgbClr val="222B48"/>
          </a:solidFill>
          <a:ln>
            <a:solidFill>
              <a:srgbClr val="FF5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07592" y="5129784"/>
            <a:ext cx="95829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F6F8FF"/>
                </a:solidFill>
                <a:latin typeface="Aptos"/>
              </a:defRPr>
            </a:pPr>
            <a:r>
              <a:t>Conclusione corretta: il modello penalizza i semafori, ma l'attesa è un costo astratto e non un processo di stop.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269FF"/>
          </a:solidFill>
          <a:ln>
            <a:solidFill>
              <a:srgbClr val="5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02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5363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92024"/>
            <a:ext cx="105613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6F8FF"/>
                </a:solidFill>
                <a:latin typeface="Aptos"/>
              </a:defRPr>
            </a:pPr>
            <a:r>
              <a:t>Webapp: dal file caricato al piano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36792"/>
            <a:ext cx="11155680" cy="18288"/>
          </a:xfrm>
          <a:prstGeom prst="rect">
            <a:avLst/>
          </a:prstGeom>
          <a:solidFill>
            <a:srgbClr val="3C4665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400800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5363"/>
                </a:solidFill>
                <a:latin typeface="Aptos"/>
              </a:defRPr>
            </a:pPr>
            <a:r>
              <a:t>Relatore: Pierluigi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400800"/>
            <a:ext cx="4114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6B2CF"/>
                </a:solidFill>
                <a:latin typeface="Aptos"/>
              </a:defRPr>
            </a:pPr>
            <a:r>
              <a:t>Map Construction in PDDL+ | Presentazione d'esame</a:t>
            </a:r>
          </a:p>
        </p:txBody>
      </p:sp>
      <p:pic>
        <p:nvPicPr>
          <p:cNvPr id="8" name="Picture 7" descr="01_mappa_graf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078992"/>
            <a:ext cx="7059168" cy="5074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936992" y="1097280"/>
            <a:ext cx="3611880" cy="1371600"/>
          </a:xfrm>
          <a:prstGeom prst="roundRect">
            <a:avLst/>
          </a:prstGeom>
          <a:solidFill>
            <a:srgbClr val="192037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936992" y="1097280"/>
            <a:ext cx="64008" cy="1371600"/>
          </a:xfrm>
          <a:prstGeom prst="roundRect">
            <a:avLst/>
          </a:prstGeom>
          <a:solidFill>
            <a:srgbClr val="5269FF"/>
          </a:solidFill>
          <a:ln>
            <a:solidFill>
              <a:srgbClr val="5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38160" y="1261872"/>
            <a:ext cx="3246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5269FF"/>
                </a:solidFill>
                <a:latin typeface="Aptos"/>
              </a:defRPr>
            </a:pPr>
            <a:r>
              <a:t>1 · GENERATE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1655064"/>
            <a:ext cx="3246120" cy="676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6F8FF"/>
                </a:solidFill>
                <a:latin typeface="Aptos"/>
              </a:defRPr>
            </a:pPr>
            <a:r>
              <a:t>Carica l'OSM, costruisce il grafo contratto e seleziona al massimo N nodi.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36992" y="2670048"/>
            <a:ext cx="3611880" cy="1508760"/>
          </a:xfrm>
          <a:prstGeom prst="roundRect">
            <a:avLst/>
          </a:prstGeom>
          <a:solidFill>
            <a:srgbClr val="192037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936992" y="2670048"/>
            <a:ext cx="64008" cy="1508760"/>
          </a:xfrm>
          <a:prstGeom prst="roundRect">
            <a:avLst/>
          </a:prstGeom>
          <a:solidFill>
            <a:srgbClr val="2BCF82"/>
          </a:solidFill>
          <a:ln>
            <a:solidFill>
              <a:srgbClr val="2BC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38160" y="2834640"/>
            <a:ext cx="3246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2BCF82"/>
                </a:solidFill>
                <a:latin typeface="Aptos"/>
              </a:defRPr>
            </a:pPr>
            <a:r>
              <a:t>2 · SCELTA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3227832"/>
            <a:ext cx="3246120" cy="8138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6F8FF"/>
                </a:solidFill>
                <a:latin typeface="Aptos"/>
              </a:defRPr>
            </a:pPr>
            <a:r>
              <a:t>L'utente può sostituire start e goal automatici; la raggiungibilità viene controllata.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36992" y="4389120"/>
            <a:ext cx="3611880" cy="1554480"/>
          </a:xfrm>
          <a:prstGeom prst="roundRect">
            <a:avLst/>
          </a:prstGeom>
          <a:solidFill>
            <a:srgbClr val="192037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936992" y="4389120"/>
            <a:ext cx="64008" cy="1554480"/>
          </a:xfrm>
          <a:prstGeom prst="roundRect">
            <a:avLst/>
          </a:prstGeom>
          <a:solidFill>
            <a:srgbClr val="FFB52C"/>
          </a:solidFill>
          <a:ln>
            <a:solidFill>
              <a:srgbClr val="FFB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38160" y="4553712"/>
            <a:ext cx="3246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B52C"/>
                </a:solidFill>
                <a:latin typeface="Aptos"/>
              </a:defRPr>
            </a:pPr>
            <a:r>
              <a:t>3 · SOLVE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4946904"/>
            <a:ext cx="3246120" cy="8595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6F8FF"/>
                </a:solidFill>
                <a:latin typeface="Aptos"/>
              </a:defRPr>
            </a:pPr>
            <a:r>
              <a:t>Genera problem_custom.pddl, avvia ENHSP e calcola distanza, costo temporale e semafori.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5833872"/>
            <a:ext cx="6492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5363"/>
                </a:solidFill>
                <a:latin typeface="Aptos"/>
              </a:defRPr>
            </a:pPr>
            <a:r>
              <a:t>Correzione: il tempo di calcolo ENHSP viene mostrato in ms, non in secondi.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269FF"/>
          </a:solidFill>
          <a:ln>
            <a:solidFill>
              <a:srgbClr val="5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02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5363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92024"/>
            <a:ext cx="105613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6F8FF"/>
                </a:solidFill>
                <a:latin typeface="Aptos"/>
              </a:defRPr>
            </a:pPr>
            <a:r>
              <a:t>Risultati verificati sui file attuali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694944"/>
            <a:ext cx="103327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6B2CF"/>
                </a:solidFill>
                <a:latin typeface="Aptos"/>
              </a:defRPr>
            </a:pPr>
            <a:r>
              <a:t>Esecuzione del 7 giugno 2026 · motore ENHSP aibr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36792"/>
            <a:ext cx="11155680" cy="18288"/>
          </a:xfrm>
          <a:prstGeom prst="rect">
            <a:avLst/>
          </a:prstGeom>
          <a:solidFill>
            <a:srgbClr val="3C4665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400800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5363"/>
                </a:solidFill>
                <a:latin typeface="Aptos"/>
              </a:defRPr>
            </a:pPr>
            <a:r>
              <a:t>Relatore: Pierluigi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6400800"/>
            <a:ext cx="4114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6B2CF"/>
                </a:solidFill>
                <a:latin typeface="Aptos"/>
              </a:defRPr>
            </a:pPr>
            <a:r>
              <a:t>Map Construction in PDDL+ | Presentazione d'esame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207008"/>
            <a:ext cx="3474720" cy="4526280"/>
          </a:xfrm>
          <a:prstGeom prst="roundRect">
            <a:avLst/>
          </a:prstGeom>
          <a:solidFill>
            <a:srgbClr val="192037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481328"/>
            <a:ext cx="310896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36CAFF"/>
                </a:solidFill>
                <a:latin typeface="Aptos"/>
              </a:defRPr>
            </a:pPr>
            <a:r>
              <a:t>PICCOLA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139696"/>
            <a:ext cx="187451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6B2CF"/>
                </a:solidFill>
                <a:latin typeface="Aptos"/>
              </a:defRPr>
            </a:pPr>
            <a:r>
              <a:t>Nodi / archi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2887" y="2112264"/>
            <a:ext cx="130759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500" b="1">
                <a:solidFill>
                  <a:srgbClr val="F6F8FF"/>
                </a:solidFill>
                <a:latin typeface="Aptos"/>
              </a:defRPr>
            </a:pPr>
            <a:r>
              <a:t>14 / 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807208"/>
            <a:ext cx="187451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6B2CF"/>
                </a:solidFill>
                <a:latin typeface="Aptos"/>
              </a:defRPr>
            </a:pPr>
            <a:r>
              <a:t>Distanza piano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32887" y="2779776"/>
            <a:ext cx="130759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500" b="1">
                <a:solidFill>
                  <a:srgbClr val="F6F8FF"/>
                </a:solidFill>
                <a:latin typeface="Aptos"/>
              </a:defRPr>
            </a:pPr>
            <a:r>
              <a:t>1570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474720"/>
            <a:ext cx="187451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6B2CF"/>
                </a:solidFill>
                <a:latin typeface="Aptos"/>
              </a:defRPr>
            </a:pPr>
            <a:r>
              <a:t>Semafori modello / piano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32887" y="3447288"/>
            <a:ext cx="130759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500" b="1">
                <a:solidFill>
                  <a:srgbClr val="F6F8FF"/>
                </a:solidFill>
                <a:latin typeface="Aptos"/>
              </a:defRPr>
            </a:pPr>
            <a:r>
              <a:t>4 /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142231"/>
            <a:ext cx="187451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6B2CF"/>
                </a:solidFill>
                <a:latin typeface="Aptos"/>
              </a:defRPr>
            </a:pPr>
            <a:r>
              <a:t>Costo total-time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32887" y="4114799"/>
            <a:ext cx="130759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500" b="1">
                <a:solidFill>
                  <a:srgbClr val="F6F8FF"/>
                </a:solidFill>
                <a:latin typeface="Aptos"/>
              </a:defRPr>
            </a:pPr>
            <a:r>
              <a:t>308,5 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4809744"/>
            <a:ext cx="187451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6B2CF"/>
                </a:solidFill>
                <a:latin typeface="Aptos"/>
              </a:defRPr>
            </a:pPr>
            <a:r>
              <a:t>Planning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32887" y="4782312"/>
            <a:ext cx="130759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500" b="1">
                <a:solidFill>
                  <a:srgbClr val="F6F8FF"/>
                </a:solidFill>
                <a:latin typeface="Aptos"/>
              </a:defRPr>
            </a:pPr>
            <a:r>
              <a:t>100 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1207008"/>
            <a:ext cx="3474720" cy="4526280"/>
          </a:xfrm>
          <a:prstGeom prst="roundRect">
            <a:avLst/>
          </a:prstGeom>
          <a:solidFill>
            <a:srgbClr val="192037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63440" y="1481328"/>
            <a:ext cx="310896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5269FF"/>
                </a:solidFill>
                <a:latin typeface="Aptos"/>
              </a:defRPr>
            </a:pPr>
            <a:r>
              <a:t>MEDIA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59" y="2139696"/>
            <a:ext cx="187451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6B2CF"/>
                </a:solidFill>
                <a:latin typeface="Aptos"/>
              </a:defRPr>
            </a:pPr>
            <a:r>
              <a:t>Nodi / archi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79" y="2112264"/>
            <a:ext cx="130759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500" b="1">
                <a:solidFill>
                  <a:srgbClr val="F6F8FF"/>
                </a:solidFill>
                <a:latin typeface="Aptos"/>
              </a:defRPr>
            </a:pPr>
            <a:r>
              <a:t>50 / 93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59" y="2807208"/>
            <a:ext cx="187451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6B2CF"/>
                </a:solidFill>
                <a:latin typeface="Aptos"/>
              </a:defRPr>
            </a:pPr>
            <a:r>
              <a:t>Distanza piano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79" y="2779776"/>
            <a:ext cx="130759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500" b="1">
                <a:solidFill>
                  <a:srgbClr val="F6F8FF"/>
                </a:solidFill>
                <a:latin typeface="Aptos"/>
              </a:defRPr>
            </a:pPr>
            <a:r>
              <a:t>1623 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59" y="3474720"/>
            <a:ext cx="187451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6B2CF"/>
                </a:solidFill>
                <a:latin typeface="Aptos"/>
              </a:defRPr>
            </a:pPr>
            <a:r>
              <a:t>Semafori modello / piano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79" y="3447288"/>
            <a:ext cx="130759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500" b="1">
                <a:solidFill>
                  <a:srgbClr val="F6F8FF"/>
                </a:solidFill>
                <a:latin typeface="Aptos"/>
              </a:defRPr>
            </a:pPr>
            <a:r>
              <a:t>6 /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59" y="4142231"/>
            <a:ext cx="187451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6B2CF"/>
                </a:solidFill>
                <a:latin typeface="Aptos"/>
              </a:defRPr>
            </a:pPr>
            <a:r>
              <a:t>Costo total-time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79" y="4114799"/>
            <a:ext cx="130759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500" b="1">
                <a:solidFill>
                  <a:srgbClr val="F6F8FF"/>
                </a:solidFill>
                <a:latin typeface="Aptos"/>
              </a:defRPr>
            </a:pPr>
            <a:r>
              <a:t>210,5 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59" y="4809744"/>
            <a:ext cx="187451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6B2CF"/>
                </a:solidFill>
                <a:latin typeface="Aptos"/>
              </a:defRPr>
            </a:pPr>
            <a:r>
              <a:t>Planning 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79" y="4782312"/>
            <a:ext cx="130759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500" b="1">
                <a:solidFill>
                  <a:srgbClr val="F6F8FF"/>
                </a:solidFill>
                <a:latin typeface="Aptos"/>
              </a:defRPr>
            </a:pPr>
            <a:r>
              <a:t>141 ms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02752" y="1207008"/>
            <a:ext cx="3474720" cy="4526280"/>
          </a:xfrm>
          <a:prstGeom prst="roundRect">
            <a:avLst/>
          </a:prstGeom>
          <a:solidFill>
            <a:srgbClr val="192037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85632" y="1481328"/>
            <a:ext cx="3108960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FFB52C"/>
                </a:solidFill>
                <a:latin typeface="Aptos"/>
              </a:defRPr>
            </a:pPr>
            <a:r>
              <a:t>GRANDE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31352" y="2139696"/>
            <a:ext cx="187451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6B2CF"/>
                </a:solidFill>
                <a:latin typeface="Aptos"/>
              </a:defRPr>
            </a:pPr>
            <a:r>
              <a:t>Nodi / archi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77272" y="2112264"/>
            <a:ext cx="130759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500" b="1">
                <a:solidFill>
                  <a:srgbClr val="F6F8FF"/>
                </a:solidFill>
                <a:latin typeface="Aptos"/>
              </a:defRPr>
            </a:pPr>
            <a:r>
              <a:t>120 / 206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31352" y="2807208"/>
            <a:ext cx="187451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6B2CF"/>
                </a:solidFill>
                <a:latin typeface="Aptos"/>
              </a:defRPr>
            </a:pPr>
            <a:r>
              <a:t>Distanza piano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77272" y="2779776"/>
            <a:ext cx="130759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500" b="1">
                <a:solidFill>
                  <a:srgbClr val="F6F8FF"/>
                </a:solidFill>
                <a:latin typeface="Aptos"/>
              </a:defRPr>
            </a:pPr>
            <a:r>
              <a:t>1335 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31352" y="3474720"/>
            <a:ext cx="187451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6B2CF"/>
                </a:solidFill>
                <a:latin typeface="Aptos"/>
              </a:defRPr>
            </a:pPr>
            <a:r>
              <a:t>Semafori modello / piano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77272" y="3447288"/>
            <a:ext cx="130759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500" b="1">
                <a:solidFill>
                  <a:srgbClr val="F6F8FF"/>
                </a:solidFill>
                <a:latin typeface="Aptos"/>
              </a:defRPr>
            </a:pPr>
            <a:r>
              <a:t>6 / 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31352" y="4142231"/>
            <a:ext cx="187451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6B2CF"/>
                </a:solidFill>
                <a:latin typeface="Aptos"/>
              </a:defRPr>
            </a:pPr>
            <a:r>
              <a:t>Costo total-time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77272" y="4114799"/>
            <a:ext cx="130759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500" b="1">
                <a:solidFill>
                  <a:srgbClr val="F6F8FF"/>
                </a:solidFill>
                <a:latin typeface="Aptos"/>
              </a:defRPr>
            </a:pPr>
            <a:r>
              <a:t>141,6 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31352" y="4809744"/>
            <a:ext cx="187451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6B2CF"/>
                </a:solidFill>
                <a:latin typeface="Aptos"/>
              </a:defRPr>
            </a:pPr>
            <a:r>
              <a:t>Planning time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77272" y="4782312"/>
            <a:ext cx="130759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500" b="1">
                <a:solidFill>
                  <a:srgbClr val="F6F8FF"/>
                </a:solidFill>
                <a:latin typeface="Aptos"/>
              </a:defRPr>
            </a:pPr>
            <a:r>
              <a:t>80 ms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5925312"/>
            <a:ext cx="10561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0">
                <a:solidFill>
                  <a:srgbClr val="A6B2CF"/>
                </a:solidFill>
                <a:latin typeface="Aptos"/>
              </a:defRPr>
            </a:pPr>
            <a:r>
              <a:t>Il costo total-time è ricalcolato dai tratti del piano: Σ distanza/velocità + 30 s per ogni semaforo attraversato.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269FF"/>
          </a:solidFill>
          <a:ln>
            <a:solidFill>
              <a:srgbClr val="5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02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5363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92024"/>
            <a:ext cx="105613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6F8FF"/>
                </a:solidFill>
                <a:latin typeface="Aptos"/>
              </a:defRPr>
            </a:pPr>
            <a:r>
              <a:t>Cosa fa davvero SUMO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36792"/>
            <a:ext cx="11155680" cy="18288"/>
          </a:xfrm>
          <a:prstGeom prst="rect">
            <a:avLst/>
          </a:prstGeom>
          <a:solidFill>
            <a:srgbClr val="3C4665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400800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5363"/>
                </a:solidFill>
                <a:latin typeface="Aptos"/>
              </a:defRPr>
            </a:pPr>
            <a:r>
              <a:t>Relatore: Pierluigi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400800"/>
            <a:ext cx="4114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6B2CF"/>
                </a:solidFill>
                <a:latin typeface="Aptos"/>
              </a:defRPr>
            </a:pPr>
            <a:r>
              <a:t>Map Construction in PDDL+ | Presentazione d'esame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170432"/>
            <a:ext cx="3401568" cy="2011680"/>
          </a:xfrm>
          <a:prstGeom prst="roundRect">
            <a:avLst/>
          </a:prstGeom>
          <a:solidFill>
            <a:srgbClr val="192037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85800" y="1170432"/>
            <a:ext cx="64008" cy="2011680"/>
          </a:xfrm>
          <a:prstGeom prst="roundRect">
            <a:avLst/>
          </a:prstGeom>
          <a:solidFill>
            <a:srgbClr val="36CAFF"/>
          </a:solidFill>
          <a:ln>
            <a:solidFill>
              <a:srgbClr val="36C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335024"/>
            <a:ext cx="30358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36CAFF"/>
                </a:solidFill>
                <a:latin typeface="Aptos"/>
              </a:defRPr>
            </a:pPr>
            <a:r>
              <a:t>RETE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728216"/>
            <a:ext cx="3035808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6F8FF"/>
                </a:solidFill>
                <a:latin typeface="Aptos"/>
              </a:defRPr>
            </a:pPr>
            <a:r>
              <a:t>net.xml contiene junction, edge e lane ottenuti dalla stessa area OSM, ma con identificatori SUMO.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170432"/>
            <a:ext cx="3401568" cy="2011680"/>
          </a:xfrm>
          <a:prstGeom prst="roundRect">
            <a:avLst/>
          </a:prstGeom>
          <a:solidFill>
            <a:srgbClr val="192037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389120" y="1170432"/>
            <a:ext cx="64008" cy="2011680"/>
          </a:xfrm>
          <a:prstGeom prst="roundRect">
            <a:avLst/>
          </a:prstGeom>
          <a:solidFill>
            <a:srgbClr val="5269FF"/>
          </a:solidFill>
          <a:ln>
            <a:solidFill>
              <a:srgbClr val="5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1335024"/>
            <a:ext cx="30358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5269FF"/>
                </a:solidFill>
                <a:latin typeface="Aptos"/>
              </a:defRPr>
            </a:pPr>
            <a:r>
              <a:t>MAPPING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1728216"/>
            <a:ext cx="3035808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6F8FF"/>
                </a:solidFill>
                <a:latin typeface="Aptos"/>
              </a:defRPr>
            </a:pPr>
            <a:r>
              <a:t>Per nomi n1234567 si cerca una junction il cui ID contiene il suffisso OSM corrispondente.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170432"/>
            <a:ext cx="3401568" cy="2011680"/>
          </a:xfrm>
          <a:prstGeom prst="roundRect">
            <a:avLst/>
          </a:prstGeom>
          <a:solidFill>
            <a:srgbClr val="192037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092440" y="1170432"/>
            <a:ext cx="64008" cy="2011680"/>
          </a:xfrm>
          <a:prstGeom prst="roundRect">
            <a:avLst/>
          </a:prstGeom>
          <a:solidFill>
            <a:srgbClr val="FFB52C"/>
          </a:solidFill>
          <a:ln>
            <a:solidFill>
              <a:srgbClr val="FFB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3608" y="1335024"/>
            <a:ext cx="303580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B52C"/>
                </a:solidFill>
                <a:latin typeface="Aptos"/>
              </a:defRPr>
            </a:pPr>
            <a:r>
              <a:t>DIJKSTRA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1728216"/>
            <a:ext cx="3035808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6F8FF"/>
                </a:solidFill>
                <a:latin typeface="Aptos"/>
              </a:defRPr>
            </a:pPr>
            <a:r>
              <a:t>Sul grafo SUMO si calcola il percorso di minima lunghezza tra start e goal e si genera il file .rou.xml.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3703320"/>
            <a:ext cx="10451592" cy="1051560"/>
          </a:xfrm>
          <a:prstGeom prst="roundRect">
            <a:avLst/>
          </a:prstGeom>
          <a:solidFill>
            <a:srgbClr val="222B48"/>
          </a:solidFill>
          <a:ln>
            <a:solidFill>
              <a:srgbClr val="FF53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15568" y="3922776"/>
            <a:ext cx="2240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5363"/>
                </a:solidFill>
                <a:latin typeface="Aptos"/>
              </a:defRPr>
            </a:pPr>
            <a:r>
              <a:t>Precisazione importante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3904487"/>
            <a:ext cx="7882127" cy="4480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6F8FF"/>
                </a:solidFill>
                <a:latin typeface="Aptos"/>
              </a:defRPr>
            </a:pPr>
            <a:r>
              <a:t>La modalità dinamica non traduce ogni nodo del piano ENHSP: ricostruisce una rotta SUMO tra gli stessi estremi.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" y="5074920"/>
            <a:ext cx="101498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F6F8FF"/>
                </a:solidFill>
                <a:latin typeface="Aptos"/>
              </a:defRPr>
            </a:pPr>
            <a:r>
              <a:t>•  SUMO aggiunge accelerazione, frenata e logiche semaforiche proprie.</a:t>
            </a:r>
          </a:p>
          <a:p>
            <a:pPr>
              <a:spcAft>
                <a:spcPts val="900"/>
              </a:spcAft>
              <a:defRPr sz="1600">
                <a:solidFill>
                  <a:srgbClr val="F6F8FF"/>
                </a:solidFill>
                <a:latin typeface="Aptos"/>
              </a:defRPr>
            </a:pPr>
            <a:r>
              <a:t>•  Serve come simulazione/visualizzazione, non come validatore formale dell'ottimalità PDDL.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269FF"/>
          </a:solidFill>
          <a:ln>
            <a:solidFill>
              <a:srgbClr val="5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02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5363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92024"/>
            <a:ext cx="105613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6F8FF"/>
                </a:solidFill>
                <a:latin typeface="Aptos"/>
              </a:defRPr>
            </a:pPr>
            <a:r>
              <a:t>Assunzioni, limiti e risposte da esame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36792"/>
            <a:ext cx="11155680" cy="18288"/>
          </a:xfrm>
          <a:prstGeom prst="rect">
            <a:avLst/>
          </a:prstGeom>
          <a:solidFill>
            <a:srgbClr val="3C4665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400800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5363"/>
                </a:solidFill>
                <a:latin typeface="Aptos"/>
              </a:defRPr>
            </a:pPr>
            <a:r>
              <a:t>Relatore: Pierluigi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400800"/>
            <a:ext cx="4114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6B2CF"/>
                </a:solidFill>
                <a:latin typeface="Aptos"/>
              </a:defRPr>
            </a:pPr>
            <a:r>
              <a:t>Map Construction in PDDL+ | Presentazione d'esame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14300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FFB52C"/>
                </a:solidFill>
                <a:latin typeface="Aptos"/>
              </a:defRPr>
            </a:pPr>
            <a:r>
              <a:t>Semplificazioni del modello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27632"/>
            <a:ext cx="5230368" cy="3401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6F8FF"/>
                </a:solidFill>
                <a:latin typeface="Aptos"/>
              </a:defRPr>
            </a:pPr>
            <a:r>
              <a:t>•  30 s è un ritardo medio fisso, non la fase reale del semaforo.</a:t>
            </a:r>
          </a:p>
          <a:p>
            <a:pPr>
              <a:spcAft>
                <a:spcPts val="1200"/>
              </a:spcAft>
              <a:defRPr sz="1600">
                <a:solidFill>
                  <a:srgbClr val="F6F8FF"/>
                </a:solidFill>
                <a:latin typeface="Aptos"/>
              </a:defRPr>
            </a:pPr>
            <a:r>
              <a:t>•  Il traffico e le code non sono inclusi nel planning.</a:t>
            </a:r>
          </a:p>
          <a:p>
            <a:pPr>
              <a:spcAft>
                <a:spcPts val="1200"/>
              </a:spcAft>
              <a:defRPr sz="1600">
                <a:solidFill>
                  <a:srgbClr val="F6F8FF"/>
                </a:solidFill>
                <a:latin typeface="Aptos"/>
              </a:defRPr>
            </a:pPr>
            <a:r>
              <a:t>•  Il parser di maxspeed gestisce bene i valori numerici usati nei dataset.</a:t>
            </a:r>
          </a:p>
          <a:p>
            <a:pPr>
              <a:spcAft>
                <a:spcPts val="1200"/>
              </a:spcAft>
              <a:defRPr sz="1600">
                <a:solidFill>
                  <a:srgbClr val="F6F8FF"/>
                </a:solidFill>
                <a:latin typeface="Aptos"/>
              </a:defRPr>
            </a:pPr>
            <a:r>
              <a:t>•  Il sottografo riduce la complessità ma perde parte della rete.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6208" y="114300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FF5363"/>
                </a:solidFill>
                <a:latin typeface="Aptos"/>
              </a:defRPr>
            </a:pPr>
            <a:r>
              <a:t>Cose da dichiarare senza ambiguità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6208" y="1627632"/>
            <a:ext cx="5230368" cy="3401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6F8FF"/>
                </a:solidFill>
                <a:latin typeface="Aptos"/>
              </a:defRPr>
            </a:pPr>
            <a:r>
              <a:t>•  La piccola è una baseline manuale; media e grande sono generate.</a:t>
            </a:r>
          </a:p>
          <a:p>
            <a:pPr>
              <a:spcAft>
                <a:spcPts val="1200"/>
              </a:spcAft>
              <a:defRPr sz="1600">
                <a:solidFill>
                  <a:srgbClr val="F6F8FF"/>
                </a:solidFill>
                <a:latin typeface="Aptos"/>
              </a:defRPr>
            </a:pPr>
            <a:r>
              <a:t>•  aibr trova un piano; non presentiamo una prova matematica di ottimalità globale.</a:t>
            </a:r>
          </a:p>
          <a:p>
            <a:pPr>
              <a:spcAft>
                <a:spcPts val="1200"/>
              </a:spcAft>
              <a:defRPr sz="1600">
                <a:solidFill>
                  <a:srgbClr val="F6F8FF"/>
                </a:solidFill>
                <a:latin typeface="Aptos"/>
              </a:defRPr>
            </a:pPr>
            <a:r>
              <a:t>•  I timestamp ENHSP sono discretizzati a 1 s; total-time è calcolato numericamente.</a:t>
            </a:r>
          </a:p>
          <a:p>
            <a:pPr>
              <a:spcAft>
                <a:spcPts val="1200"/>
              </a:spcAft>
              <a:defRPr sz="1600">
                <a:solidFill>
                  <a:srgbClr val="F6F8FF"/>
                </a:solidFill>
                <a:latin typeface="Aptos"/>
              </a:defRPr>
            </a:pPr>
            <a:r>
              <a:t>•  SUMO e PDDL hanno modelli e percorsi potenzialmente diversi.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5349240"/>
            <a:ext cx="10149840" cy="566928"/>
          </a:xfrm>
          <a:prstGeom prst="roundRect">
            <a:avLst/>
          </a:prstGeom>
          <a:solidFill>
            <a:srgbClr val="222B48"/>
          </a:solidFill>
          <a:ln>
            <a:solidFill>
              <a:srgbClr val="2BC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52728" y="5495544"/>
            <a:ext cx="9646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F6F8FF"/>
                </a:solidFill>
                <a:latin typeface="Aptos"/>
              </a:defRPr>
            </a:pPr>
            <a:r>
              <a:t>Dichiarare i limiti rafforza la validità sperimentale del progetto.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269FF"/>
          </a:solidFill>
          <a:ln>
            <a:solidFill>
              <a:srgbClr val="5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029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5363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92024"/>
            <a:ext cx="105613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F6F8FF"/>
                </a:solidFill>
                <a:latin typeface="Aptos"/>
              </a:defRPr>
            </a:pPr>
            <a:r>
              <a:t>Conclusioni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336792"/>
            <a:ext cx="11155680" cy="18288"/>
          </a:xfrm>
          <a:prstGeom prst="rect">
            <a:avLst/>
          </a:prstGeom>
          <a:solidFill>
            <a:srgbClr val="3C4665"/>
          </a:solidFill>
          <a:ln>
            <a:solidFill>
              <a:srgbClr val="3C46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400800"/>
            <a:ext cx="2560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F5363"/>
                </a:solidFill>
                <a:latin typeface="Aptos"/>
              </a:defRPr>
            </a:pPr>
            <a:r>
              <a:t>Relatore: Pierluigi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6400800"/>
            <a:ext cx="41148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A6B2CF"/>
                </a:solidFill>
                <a:latin typeface="Aptos"/>
              </a:defRPr>
            </a:pPr>
            <a:r>
              <a:t>Map Construction in PDDL+ | Presentazione d'esame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14300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6F8FF"/>
                </a:solidFill>
                <a:latin typeface="Aptos"/>
              </a:defRPr>
            </a:pPr>
            <a:r>
              <a:t>Il contributo del progetto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37360"/>
            <a:ext cx="5303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6F8FF"/>
                </a:solidFill>
                <a:latin typeface="Aptos"/>
              </a:defRPr>
            </a:pPr>
            <a:r>
              <a:t>•  Pipeline riproducibile da dati OSM a istanze PDDL+.</a:t>
            </a:r>
          </a:p>
          <a:p>
            <a:pPr>
              <a:spcAft>
                <a:spcPts val="1400"/>
              </a:spcAft>
              <a:defRPr sz="1800">
                <a:solidFill>
                  <a:srgbClr val="F6F8FF"/>
                </a:solidFill>
                <a:latin typeface="Aptos"/>
              </a:defRPr>
            </a:pPr>
            <a:r>
              <a:t>•  Modello temporale con movimento continuo e costi semaforici.</a:t>
            </a:r>
          </a:p>
          <a:p>
            <a:pPr>
              <a:spcAft>
                <a:spcPts val="1400"/>
              </a:spcAft>
              <a:defRPr sz="1800">
                <a:solidFill>
                  <a:srgbClr val="F6F8FF"/>
                </a:solidFill>
                <a:latin typeface="Aptos"/>
              </a:defRPr>
            </a:pPr>
            <a:r>
              <a:t>•  Tre livelli di verifica: file PDDL, webapp e simulazione SUMO.</a:t>
            </a:r>
          </a:p>
          <a:p>
            <a:pPr>
              <a:spcAft>
                <a:spcPts val="1400"/>
              </a:spcAft>
              <a:defRPr sz="1800">
                <a:solidFill>
                  <a:srgbClr val="F6F8FF"/>
                </a:solidFill>
                <a:latin typeface="Aptos"/>
              </a:defRPr>
            </a:pPr>
            <a:r>
              <a:t>•  Scalabilità mostrata da 14 a 120 oggetti PDDL.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14300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6F8FF"/>
                </a:solidFill>
                <a:latin typeface="Aptos"/>
              </a:defRPr>
            </a:pPr>
            <a:r>
              <a:t>Sviluppi futuri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737360"/>
            <a:ext cx="50749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6F8FF"/>
                </a:solidFill>
                <a:latin typeface="Aptos"/>
              </a:defRPr>
            </a:pPr>
            <a:r>
              <a:t>•  Attese semaforiche come processi temporali reali.</a:t>
            </a:r>
          </a:p>
          <a:p>
            <a:pPr>
              <a:spcAft>
                <a:spcPts val="1400"/>
              </a:spcAft>
              <a:defRPr sz="1800">
                <a:solidFill>
                  <a:srgbClr val="F6F8FF"/>
                </a:solidFill>
                <a:latin typeface="Aptos"/>
              </a:defRPr>
            </a:pPr>
            <a:r>
              <a:t>•  Traffico dinamico e velocità dipendente dal tempo.</a:t>
            </a:r>
          </a:p>
          <a:p>
            <a:pPr>
              <a:spcAft>
                <a:spcPts val="1400"/>
              </a:spcAft>
              <a:defRPr sz="1800">
                <a:solidFill>
                  <a:srgbClr val="F6F8FF"/>
                </a:solidFill>
                <a:latin typeface="Aptos"/>
              </a:defRPr>
            </a:pPr>
            <a:r>
              <a:t>•  Traduzione completa del piano ENHSP in archi SUMO.</a:t>
            </a:r>
          </a:p>
          <a:p>
            <a:pPr>
              <a:spcAft>
                <a:spcPts val="1400"/>
              </a:spcAft>
              <a:defRPr sz="1800">
                <a:solidFill>
                  <a:srgbClr val="F6F8FF"/>
                </a:solidFill>
                <a:latin typeface="Aptos"/>
              </a:defRPr>
            </a:pPr>
            <a:r>
              <a:t>•  Obiettivi multipli: tempo, distanza, emissioni.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047488"/>
            <a:ext cx="10378440" cy="804672"/>
          </a:xfrm>
          <a:prstGeom prst="roundRect">
            <a:avLst/>
          </a:prstGeom>
          <a:solidFill>
            <a:srgbClr val="222B48"/>
          </a:solidFill>
          <a:ln>
            <a:solidFill>
              <a:srgbClr val="526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5276088"/>
            <a:ext cx="99212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36CAFF"/>
                </a:solidFill>
                <a:latin typeface="Aptos"/>
              </a:defRPr>
            </a:pPr>
            <a:r>
              <a:t>OSM → grafo contratto → PDDL+ → ENHSP → webapp / SUMO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2312" y="5943600"/>
            <a:ext cx="2651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F6F8FF"/>
                </a:solidFill>
                <a:latin typeface="Aptos"/>
              </a:defRPr>
            </a:pPr>
            <a:r>
              <a:t>Domande?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2299</Words>
  <Application>Microsoft Office PowerPoint</Application>
  <PresentationFormat>Widescreen</PresentationFormat>
  <Paragraphs>322</Paragraphs>
  <Slides>20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 Construction in PDDL+ — Presentazione d'esame</dc:title>
  <dc:subject>OpenStreetMap, PDDL+, ENHSP e SUMO</dc:subject>
  <dc:creator>Chiara, Elisa, Emanuele, Pierluigi</dc:creator>
  <cp:keywords/>
  <dc:description>generated using python-pptx</dc:description>
  <cp:lastModifiedBy>Emanuele Colecchia</cp:lastModifiedBy>
  <cp:revision>1</cp:revision>
  <dcterms:created xsi:type="dcterms:W3CDTF">2013-01-27T09:14:16Z</dcterms:created>
  <dcterms:modified xsi:type="dcterms:W3CDTF">2026-06-07T16:49:17Z</dcterms:modified>
  <cp:category/>
</cp:coreProperties>
</file>